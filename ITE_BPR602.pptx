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1" r:id="rId8"/>
    <p:sldId id="263" r:id="rId9"/>
    <p:sldId id="265" r:id="rId10"/>
    <p:sldId id="267" r:id="rId11"/>
    <p:sldId id="268" r:id="rId12"/>
    <p:sldId id="269" r:id="rId13"/>
    <p:sldId id="264" r:id="rId14"/>
    <p:sldId id="270" r:id="rId15"/>
    <p:sldId id="271" r:id="rId16"/>
    <p:sldId id="266" r:id="rId17"/>
  </p:sldIdLst>
  <p:sldSz cx="18288000" cy="10287000"/>
  <p:notesSz cx="6858000" cy="9144000"/>
  <p:embeddedFontLst>
    <p:embeddedFont>
      <p:font typeface="Abadi" panose="020B0604020104020204" pitchFamily="34" charset="0"/>
      <p:regular r:id="rId18"/>
    </p:embeddedFont>
    <p:embeddedFont>
      <p:font typeface="Arial Rounded MT Bold" panose="020F0704030504030204" pitchFamily="34" charset="0"/>
      <p:regular r:id="rId19"/>
    </p:embeddedFont>
    <p:embeddedFont>
      <p:font typeface="B612" panose="020B0604020202020204" charset="0"/>
      <p:regular r:id="rId20"/>
    </p:embeddedFont>
    <p:embeddedFont>
      <p:font typeface="B612 Bold" panose="020B0604020202020204" charset="0"/>
      <p:regular r:id="rId21"/>
    </p:embeddedFont>
    <p:embeddedFont>
      <p:font typeface="Cairo" panose="020B0604020202020204" charset="-78"/>
      <p:regular r:id="rId22"/>
    </p:embeddedFont>
    <p:embeddedFont>
      <p:font typeface="Cairo Bold" panose="020B0604020202020204" charset="-78"/>
      <p:regular r:id="rId23"/>
    </p:embeddedFont>
    <p:embeddedFont>
      <p:font typeface="Calibri" panose="020F0502020204030204" pitchFamily="34" charset="0"/>
      <p:regular r:id="rId24"/>
      <p:bold r:id="rId25"/>
    </p:embeddedFont>
    <p:embeddedFont>
      <p:font typeface="Microsoft YaHei Light" panose="020B0502040204020203" pitchFamily="34" charset="-122"/>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fi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hyperlink" Target="https://www.kaggle.com/datasets/blaler/turkish-music-emotion-dataset" TargetMode="Externa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fi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3.jpg"/></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cs typeface="+mj-cs"/>
            </a:endParaRPr>
          </a:p>
        </p:txBody>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sp>
        <p:nvSpPr>
          <p:cNvPr id="7" name="TextBox 7"/>
          <p:cNvSpPr txBox="1"/>
          <p:nvPr/>
        </p:nvSpPr>
        <p:spPr>
          <a:xfrm>
            <a:off x="4544766" y="2937233"/>
            <a:ext cx="9746705" cy="4663328"/>
          </a:xfrm>
          <a:prstGeom prst="rect">
            <a:avLst/>
          </a:prstGeom>
        </p:spPr>
        <p:txBody>
          <a:bodyPr wrap="square" lIns="0" tIns="0" rIns="0" bIns="0" rtlCol="0" anchor="t">
            <a:spAutoFit/>
          </a:bodyPr>
          <a:lstStyle/>
          <a:p>
            <a:pPr marL="0" lvl="0" indent="0" algn="ctr">
              <a:lnSpc>
                <a:spcPts val="7214"/>
              </a:lnSpc>
              <a:spcBef>
                <a:spcPct val="0"/>
              </a:spcBef>
            </a:pPr>
            <a:r>
              <a:rPr lang="en-US" sz="7214" b="1" dirty="0">
                <a:solidFill>
                  <a:srgbClr val="FFFFFF"/>
                </a:solidFill>
                <a:latin typeface="Arial" panose="020B0604020202020204" pitchFamily="34" charset="0"/>
                <a:ea typeface="B612 Bold"/>
                <a:cs typeface="Arial" panose="020B0604020202020204" pitchFamily="34" charset="0"/>
                <a:sym typeface="B612 Bold"/>
              </a:rPr>
              <a:t>MUSIC MOOD CLASSIFICATION SYSTEM - MMCS</a:t>
            </a:r>
          </a:p>
          <a:p>
            <a:pPr marL="0" lvl="0" indent="0" algn="ctr">
              <a:lnSpc>
                <a:spcPts val="7214"/>
              </a:lnSpc>
              <a:spcBef>
                <a:spcPct val="0"/>
              </a:spcBef>
            </a:pPr>
            <a:endParaRPr lang="en-US" sz="7214" b="1" dirty="0">
              <a:solidFill>
                <a:srgbClr val="FFFFFF"/>
              </a:solidFill>
              <a:latin typeface="B612 Bold"/>
              <a:ea typeface="B612 Bold"/>
              <a:cs typeface="+mj-cs"/>
              <a:sym typeface="B612 Bold"/>
            </a:endParaRPr>
          </a:p>
          <a:p>
            <a:pPr marL="0" lvl="0" indent="0" algn="ctr">
              <a:lnSpc>
                <a:spcPts val="7214"/>
              </a:lnSpc>
              <a:spcBef>
                <a:spcPct val="0"/>
              </a:spcBef>
            </a:pPr>
            <a:endParaRPr lang="en-US" sz="7214" b="1" dirty="0">
              <a:solidFill>
                <a:srgbClr val="FFFFFF"/>
              </a:solidFill>
              <a:latin typeface="B612 Bold"/>
              <a:ea typeface="B612 Bold"/>
              <a:cs typeface="+mj-cs"/>
              <a:sym typeface="B612 Bold"/>
            </a:endParaRPr>
          </a:p>
        </p:txBody>
      </p:sp>
      <p:sp>
        <p:nvSpPr>
          <p:cNvPr id="8" name="TextBox 8"/>
          <p:cNvSpPr txBox="1"/>
          <p:nvPr/>
        </p:nvSpPr>
        <p:spPr>
          <a:xfrm>
            <a:off x="1824348" y="842931"/>
            <a:ext cx="387362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MMCS</a:t>
            </a:r>
          </a:p>
        </p:txBody>
      </p:sp>
      <p:sp>
        <p:nvSpPr>
          <p:cNvPr id="9" name="TextBox 9"/>
          <p:cNvSpPr txBox="1"/>
          <p:nvPr/>
        </p:nvSpPr>
        <p:spPr>
          <a:xfrm>
            <a:off x="4881370" y="7180365"/>
            <a:ext cx="9073495" cy="1255087"/>
          </a:xfrm>
          <a:prstGeom prst="rect">
            <a:avLst/>
          </a:prstGeom>
        </p:spPr>
        <p:txBody>
          <a:bodyPr wrap="square" lIns="0" tIns="0" rIns="0" bIns="0" rtlCol="0" anchor="t">
            <a:spAutoFit/>
          </a:bodyPr>
          <a:lstStyle/>
          <a:p>
            <a:pPr algn="ctr">
              <a:lnSpc>
                <a:spcPts val="3321"/>
              </a:lnSpc>
            </a:pPr>
            <a:r>
              <a:rPr lang="en-US" sz="2372" spc="308" dirty="0">
                <a:solidFill>
                  <a:srgbClr val="FFFFFF"/>
                </a:solidFill>
                <a:latin typeface="Arial" panose="020B0604020202020204" pitchFamily="34" charset="0"/>
                <a:ea typeface="B612"/>
                <a:cs typeface="+mj-cs"/>
                <a:sym typeface="B612"/>
              </a:rPr>
              <a:t>Fatima_0000</a:t>
            </a:r>
          </a:p>
          <a:p>
            <a:pPr algn="ctr">
              <a:lnSpc>
                <a:spcPts val="3321"/>
              </a:lnSpc>
            </a:pPr>
            <a:r>
              <a:rPr lang="en-US" sz="2372" spc="308" dirty="0">
                <a:solidFill>
                  <a:srgbClr val="FFFFFF"/>
                </a:solidFill>
                <a:latin typeface="Arial" panose="020B0604020202020204" pitchFamily="34" charset="0"/>
                <a:ea typeface="B612"/>
                <a:cs typeface="+mj-cs"/>
                <a:sym typeface="B612"/>
              </a:rPr>
              <a:t>Supervised by:</a:t>
            </a:r>
          </a:p>
          <a:p>
            <a:pPr algn="ctr">
              <a:lnSpc>
                <a:spcPts val="3321"/>
              </a:lnSpc>
            </a:pPr>
            <a:r>
              <a:rPr lang="en-US" sz="2372" spc="308" dirty="0">
                <a:solidFill>
                  <a:srgbClr val="FFFFFF"/>
                </a:solidFill>
                <a:latin typeface="Arial" panose="020B0604020202020204" pitchFamily="34" charset="0"/>
                <a:ea typeface="B612"/>
                <a:cs typeface="+mj-cs"/>
                <a:sym typeface="B612"/>
              </a:rPr>
              <a:t>Dr. mohammed Alalchaita</a:t>
            </a:r>
          </a:p>
        </p:txBody>
      </p:sp>
      <p:sp>
        <p:nvSpPr>
          <p:cNvPr id="10" name="TextBox 10"/>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sp>
        <p:nvSpPr>
          <p:cNvPr id="14" name="TextBox 14"/>
          <p:cNvSpPr txBox="1"/>
          <p:nvPr/>
        </p:nvSpPr>
        <p:spPr>
          <a:xfrm>
            <a:off x="6728424" y="5924427"/>
            <a:ext cx="5379388" cy="692497"/>
          </a:xfrm>
          <a:prstGeom prst="rect">
            <a:avLst/>
          </a:prstGeom>
        </p:spPr>
        <p:txBody>
          <a:bodyPr wrap="square" lIns="0" tIns="0" rIns="0" bIns="0" rtlCol="0" anchor="t">
            <a:spAutoFit/>
          </a:bodyPr>
          <a:lstStyle/>
          <a:p>
            <a:pPr algn="ctr" rtl="1">
              <a:lnSpc>
                <a:spcPts val="5416"/>
              </a:lnSpc>
              <a:spcBef>
                <a:spcPct val="0"/>
              </a:spcBef>
            </a:pPr>
            <a:r>
              <a:rPr lang="en-US" sz="3868" dirty="0">
                <a:solidFill>
                  <a:srgbClr val="FFFFFF"/>
                </a:solidFill>
                <a:latin typeface="Cairo"/>
                <a:ea typeface="Cairo"/>
                <a:cs typeface="+mj-cs"/>
                <a:sym typeface="Cairo"/>
                <a:rtl/>
              </a:rPr>
              <a:t>ITE_BPR602_C00_F00</a:t>
            </a:r>
            <a:endParaRPr lang="ar-EG" sz="3868" dirty="0">
              <a:solidFill>
                <a:srgbClr val="FFFFFF"/>
              </a:solidFill>
              <a:latin typeface="Cairo"/>
              <a:ea typeface="Cairo"/>
              <a:cs typeface="+mj-cs"/>
              <a:sym typeface="Cairo"/>
              <a:rtl/>
            </a:endParaRPr>
          </a:p>
        </p:txBody>
      </p:sp>
      <p:pic>
        <p:nvPicPr>
          <p:cNvPr id="15" name="صورة 14">
            <a:extLst>
              <a:ext uri="{FF2B5EF4-FFF2-40B4-BE49-F238E27FC236}">
                <a16:creationId xmlns:a16="http://schemas.microsoft.com/office/drawing/2014/main" id="{C7A56230-B88E-4CFD-985C-500E4EF52E6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2907" y="1588095"/>
            <a:ext cx="2952887" cy="2183802"/>
          </a:xfrm>
          <a:prstGeom prst="rect">
            <a:avLst/>
          </a:prstGeom>
          <a:noFill/>
          <a:ln>
            <a:noFill/>
          </a:ln>
        </p:spPr>
      </p:pic>
      <p:pic>
        <p:nvPicPr>
          <p:cNvPr id="12" name="صورة 11">
            <a:extLst>
              <a:ext uri="{FF2B5EF4-FFF2-40B4-BE49-F238E27FC236}">
                <a16:creationId xmlns:a16="http://schemas.microsoft.com/office/drawing/2014/main" id="{81DC4EF6-9F39-4970-A625-DDA4C97F14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41041" y="1211943"/>
            <a:ext cx="3117796" cy="3117796"/>
          </a:xfrm>
          <a:prstGeom prst="rect">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8605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MMCS</a:t>
            </a:r>
          </a:p>
        </p:txBody>
      </p:sp>
      <p:sp>
        <p:nvSpPr>
          <p:cNvPr id="4" name="AutoShape 4"/>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7" name="AutoShape 7"/>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sp>
        <p:nvSpPr>
          <p:cNvPr id="8" name="TextBox 8"/>
          <p:cNvSpPr txBox="1"/>
          <p:nvPr/>
        </p:nvSpPr>
        <p:spPr>
          <a:xfrm>
            <a:off x="11899888" y="9043956"/>
            <a:ext cx="4465543" cy="421269"/>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sp>
        <p:nvSpPr>
          <p:cNvPr id="10" name="TextBox 10"/>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Page 1</a:t>
            </a:r>
          </a:p>
        </p:txBody>
      </p:sp>
      <p:sp>
        <p:nvSpPr>
          <p:cNvPr id="11" name="TextBox 11"/>
          <p:cNvSpPr txBox="1"/>
          <p:nvPr/>
        </p:nvSpPr>
        <p:spPr>
          <a:xfrm>
            <a:off x="6693916" y="1181058"/>
            <a:ext cx="4852541" cy="928919"/>
          </a:xfrm>
          <a:prstGeom prst="rect">
            <a:avLst/>
          </a:prstGeom>
        </p:spPr>
        <p:txBody>
          <a:bodyPr lIns="0" tIns="0" rIns="0" bIns="0" rtlCol="0" anchor="t">
            <a:spAutoFit/>
          </a:bodyPr>
          <a:lstStyle/>
          <a:p>
            <a:pPr algn="ctr" rtl="1">
              <a:lnSpc>
                <a:spcPts val="7599"/>
              </a:lnSpc>
              <a:spcBef>
                <a:spcPct val="0"/>
              </a:spcBef>
            </a:pPr>
            <a:r>
              <a:rPr lang="ar-EG" sz="5428" b="1" spc="-211" dirty="0">
                <a:solidFill>
                  <a:srgbClr val="FFFFFF"/>
                </a:solidFill>
                <a:latin typeface="Cairo Bold"/>
                <a:ea typeface="Cairo Bold"/>
                <a:cs typeface="+mj-cs"/>
                <a:sym typeface="Cairo Bold"/>
                <a:rtl/>
              </a:rPr>
              <a:t>مـحـتـوى الـعـرض</a:t>
            </a:r>
          </a:p>
        </p:txBody>
      </p:sp>
      <p:sp>
        <p:nvSpPr>
          <p:cNvPr id="12" name="TextBox 12"/>
          <p:cNvSpPr txBox="1"/>
          <p:nvPr/>
        </p:nvSpPr>
        <p:spPr>
          <a:xfrm>
            <a:off x="10837802" y="2492805"/>
            <a:ext cx="5864432" cy="6646435"/>
          </a:xfrm>
          <a:prstGeom prst="rect">
            <a:avLst/>
          </a:prstGeom>
        </p:spPr>
        <p:txBody>
          <a:bodyPr lIns="0" tIns="0" rIns="0" bIns="0" rtlCol="0" anchor="t">
            <a:spAutoFit/>
          </a:bodyPr>
          <a:lstStyle/>
          <a:p>
            <a:pPr marL="624552" lvl="1" indent="-312276" algn="r" rtl="1">
              <a:lnSpc>
                <a:spcPts val="6566"/>
              </a:lnSpc>
              <a:buFont typeface="Arial"/>
              <a:buChar char="•"/>
            </a:pPr>
            <a:r>
              <a:rPr lang="ar-SY" sz="2892" b="1" dirty="0">
                <a:solidFill>
                  <a:srgbClr val="FFFFFF"/>
                </a:solidFill>
                <a:latin typeface="Cairo Bold"/>
                <a:ea typeface="Cairo Bold"/>
                <a:cs typeface="+mj-cs"/>
                <a:sym typeface="Cairo Bold"/>
                <a:rtl/>
              </a:rPr>
              <a:t>المقدمة</a:t>
            </a:r>
            <a:endParaRPr lang="ar-EG" sz="2892" b="1" dirty="0">
              <a:solidFill>
                <a:srgbClr val="FFFFFF"/>
              </a:solidFill>
              <a:latin typeface="Cairo Bold"/>
              <a:ea typeface="Cairo Bold"/>
              <a:cs typeface="+mj-cs"/>
              <a:sym typeface="Cairo Bold"/>
              <a:rtl/>
            </a:endParaRPr>
          </a:p>
          <a:p>
            <a:pPr marL="624552" lvl="1" indent="-312276" algn="r" rtl="1">
              <a:lnSpc>
                <a:spcPts val="6566"/>
              </a:lnSpc>
              <a:buFont typeface="Arial"/>
              <a:buChar char="•"/>
            </a:pPr>
            <a:r>
              <a:rPr lang="ar-SY" sz="2892" b="1" dirty="0">
                <a:solidFill>
                  <a:srgbClr val="FFFFFF"/>
                </a:solidFill>
                <a:latin typeface="Cairo Bold"/>
                <a:ea typeface="Cairo Bold"/>
                <a:cs typeface="+mj-cs"/>
                <a:sym typeface="Cairo Bold"/>
                <a:rtl/>
              </a:rPr>
              <a:t>اهداف المشروع</a:t>
            </a:r>
            <a:endParaRPr lang="ar-EG" sz="2892" b="1" dirty="0">
              <a:solidFill>
                <a:srgbClr val="FFFFFF"/>
              </a:solidFill>
              <a:latin typeface="Cairo Bold"/>
              <a:ea typeface="Cairo Bold"/>
              <a:cs typeface="+mj-cs"/>
              <a:sym typeface="Cairo Bold"/>
              <a:rtl/>
            </a:endParaRPr>
          </a:p>
          <a:p>
            <a:pPr marL="624552" lvl="1" indent="-312276" algn="r" rtl="1">
              <a:lnSpc>
                <a:spcPts val="6566"/>
              </a:lnSpc>
              <a:buFont typeface="Arial"/>
              <a:buChar char="•"/>
            </a:pPr>
            <a:r>
              <a:rPr lang="ar-SY" sz="2892" b="1" dirty="0">
                <a:solidFill>
                  <a:srgbClr val="FFFFFF"/>
                </a:solidFill>
                <a:latin typeface="Cairo Bold"/>
                <a:ea typeface="Cairo Bold"/>
                <a:cs typeface="+mj-cs"/>
                <a:sym typeface="Cairo Bold"/>
                <a:rtl/>
              </a:rPr>
              <a:t>الأهداف التقنية</a:t>
            </a:r>
          </a:p>
          <a:p>
            <a:pPr marL="624552" lvl="1" indent="-312276" algn="r" rtl="1">
              <a:lnSpc>
                <a:spcPts val="6566"/>
              </a:lnSpc>
              <a:buFont typeface="Arial"/>
              <a:buChar char="•"/>
            </a:pPr>
            <a:r>
              <a:rPr lang="ar-EG" sz="2892" b="1" dirty="0">
                <a:solidFill>
                  <a:srgbClr val="FFFFFF"/>
                </a:solidFill>
                <a:latin typeface="Cairo Bold"/>
                <a:ea typeface="Cairo Bold"/>
                <a:cs typeface="+mj-cs"/>
                <a:sym typeface="Cairo Bold"/>
                <a:rtl/>
              </a:rPr>
              <a:t>الأدوات والتكنولوجيا المستخدمة</a:t>
            </a:r>
            <a:endParaRPr lang="ar-SY" sz="2892" b="1" dirty="0">
              <a:solidFill>
                <a:srgbClr val="FFFFFF"/>
              </a:solidFill>
              <a:latin typeface="Cairo Bold"/>
              <a:ea typeface="Cairo Bold"/>
              <a:cs typeface="+mj-cs"/>
              <a:sym typeface="Cairo Bold"/>
              <a:rtl/>
            </a:endParaRPr>
          </a:p>
          <a:p>
            <a:pPr marL="624552" lvl="1" indent="-312276" algn="r" rtl="1">
              <a:lnSpc>
                <a:spcPts val="6566"/>
              </a:lnSpc>
              <a:buFont typeface="Arial"/>
              <a:buChar char="•"/>
            </a:pPr>
            <a:r>
              <a:rPr lang="ar-SY" sz="2892" b="1" dirty="0">
                <a:solidFill>
                  <a:srgbClr val="FFFFFF"/>
                </a:solidFill>
                <a:latin typeface="Cairo Bold"/>
                <a:ea typeface="Cairo Bold"/>
                <a:cs typeface="+mj-cs"/>
                <a:sym typeface="Cairo Bold"/>
                <a:rtl/>
              </a:rPr>
              <a:t>مجموعات البيانات</a:t>
            </a:r>
          </a:p>
          <a:p>
            <a:pPr marL="624552" lvl="1" indent="-312276" algn="r" rtl="1">
              <a:lnSpc>
                <a:spcPts val="6566"/>
              </a:lnSpc>
              <a:buFont typeface="Arial"/>
              <a:buChar char="•"/>
            </a:pPr>
            <a:r>
              <a:rPr lang="ar-SY" sz="2892" b="1" dirty="0">
                <a:solidFill>
                  <a:srgbClr val="FFFFFF"/>
                </a:solidFill>
                <a:latin typeface="Cairo Bold"/>
                <a:ea typeface="Cairo Bold"/>
                <a:cs typeface="+mj-cs"/>
                <a:sym typeface="Cairo Bold"/>
                <a:rtl/>
              </a:rPr>
              <a:t>المعالجة الأولية للبيانات</a:t>
            </a:r>
          </a:p>
          <a:p>
            <a:pPr marL="624552" lvl="1" indent="-312276" algn="r" rtl="1">
              <a:lnSpc>
                <a:spcPts val="6566"/>
              </a:lnSpc>
              <a:buFont typeface="Arial"/>
              <a:buChar char="•"/>
            </a:pPr>
            <a:r>
              <a:rPr lang="ar-SY" sz="2892" b="1" dirty="0">
                <a:solidFill>
                  <a:srgbClr val="FFFFFF"/>
                </a:solidFill>
                <a:latin typeface="Cairo Bold"/>
                <a:ea typeface="Cairo Bold"/>
                <a:cs typeface="+mj-cs"/>
                <a:sym typeface="Cairo Bold"/>
                <a:rtl/>
              </a:rPr>
              <a:t>استخراج الخصائص الصوتية</a:t>
            </a:r>
          </a:p>
          <a:p>
            <a:pPr marL="624552" lvl="1" indent="-312276" algn="r" rtl="1">
              <a:lnSpc>
                <a:spcPts val="6566"/>
              </a:lnSpc>
              <a:buFont typeface="Arial"/>
              <a:buChar char="•"/>
            </a:pPr>
            <a:endParaRPr lang="ar-EG" sz="2892" b="1" dirty="0">
              <a:solidFill>
                <a:srgbClr val="FFFFFF"/>
              </a:solidFill>
              <a:latin typeface="Cairo Bold"/>
              <a:ea typeface="Cairo Bold"/>
              <a:cs typeface="+mj-cs"/>
              <a:sym typeface="Cairo Bold"/>
              <a:rtl/>
            </a:endParaRPr>
          </a:p>
        </p:txBody>
      </p:sp>
      <p:sp>
        <p:nvSpPr>
          <p:cNvPr id="13" name="TextBox 13"/>
          <p:cNvSpPr txBox="1"/>
          <p:nvPr/>
        </p:nvSpPr>
        <p:spPr>
          <a:xfrm>
            <a:off x="4867905" y="2492805"/>
            <a:ext cx="5542195" cy="7492820"/>
          </a:xfrm>
          <a:prstGeom prst="rect">
            <a:avLst/>
          </a:prstGeom>
        </p:spPr>
        <p:txBody>
          <a:bodyPr wrap="square" lIns="0" tIns="0" rIns="0" bIns="0" rtlCol="0" anchor="t">
            <a:spAutoFit/>
          </a:bodyPr>
          <a:lstStyle/>
          <a:p>
            <a:pPr marL="624551" lvl="1" indent="-312276" algn="r" rtl="1">
              <a:lnSpc>
                <a:spcPts val="6566"/>
              </a:lnSpc>
              <a:buFont typeface="Arial"/>
              <a:buChar char="•"/>
            </a:pPr>
            <a:r>
              <a:rPr lang="ar-EG" sz="3200" b="1" dirty="0">
                <a:solidFill>
                  <a:srgbClr val="FFFFFF"/>
                </a:solidFill>
                <a:latin typeface="B612 Bold"/>
                <a:ea typeface="B612 Bold"/>
                <a:cs typeface="+mj-cs"/>
                <a:sym typeface="B612 Bold"/>
                <a:rtl/>
              </a:rPr>
              <a:t>تصميم النماذج وتصنيف البيانات</a:t>
            </a:r>
          </a:p>
          <a:p>
            <a:pPr marL="624551" lvl="1" indent="-312276" algn="r" rtl="1">
              <a:lnSpc>
                <a:spcPts val="6566"/>
              </a:lnSpc>
              <a:buFont typeface="Arial"/>
              <a:buChar char="•"/>
            </a:pPr>
            <a:r>
              <a:rPr lang="ar-SY" sz="3200" b="1" dirty="0">
                <a:solidFill>
                  <a:srgbClr val="FFFFFF"/>
                </a:solidFill>
                <a:latin typeface="B612 Bold"/>
                <a:ea typeface="B612 Bold"/>
                <a:cs typeface="+mj-cs"/>
                <a:sym typeface="B612 Bold"/>
                <a:rtl/>
              </a:rPr>
              <a:t>زيادة البيانات</a:t>
            </a:r>
            <a:endParaRPr lang="ar-EG" sz="3200" b="1" dirty="0">
              <a:solidFill>
                <a:srgbClr val="FFFFFF"/>
              </a:solidFill>
              <a:latin typeface="B612 Bold"/>
              <a:ea typeface="B612 Bold"/>
              <a:cs typeface="+mj-cs"/>
              <a:sym typeface="B612 Bold"/>
              <a:rtl/>
            </a:endParaRPr>
          </a:p>
          <a:p>
            <a:pPr marL="624551" lvl="1" indent="-312276" algn="r" rtl="1">
              <a:lnSpc>
                <a:spcPts val="6566"/>
              </a:lnSpc>
              <a:buFont typeface="Arial"/>
              <a:buChar char="•"/>
            </a:pPr>
            <a:r>
              <a:rPr lang="ar-SY" sz="3200" b="1" dirty="0">
                <a:solidFill>
                  <a:srgbClr val="FFFFFF"/>
                </a:solidFill>
                <a:latin typeface="B612 Bold"/>
                <a:ea typeface="B612 Bold"/>
                <a:cs typeface="+mj-cs"/>
                <a:sym typeface="B612 Bold"/>
                <a:rtl/>
              </a:rPr>
              <a:t>واجهة المستخدم</a:t>
            </a:r>
            <a:endParaRPr lang="ar-EG" sz="3200" b="1" dirty="0">
              <a:solidFill>
                <a:srgbClr val="FFFFFF"/>
              </a:solidFill>
              <a:latin typeface="B612 Bold"/>
              <a:ea typeface="B612 Bold"/>
              <a:cs typeface="+mj-cs"/>
              <a:sym typeface="B612 Bold"/>
              <a:rtl/>
            </a:endParaRPr>
          </a:p>
          <a:p>
            <a:pPr marL="624551" lvl="1" indent="-312276" algn="r" rtl="1">
              <a:lnSpc>
                <a:spcPts val="6566"/>
              </a:lnSpc>
              <a:buFont typeface="Arial"/>
              <a:buChar char="•"/>
            </a:pPr>
            <a:r>
              <a:rPr lang="ar-SY" sz="2892" b="1" dirty="0">
                <a:solidFill>
                  <a:srgbClr val="FFFFFF"/>
                </a:solidFill>
                <a:latin typeface="Cairo Bold"/>
                <a:ea typeface="Cairo Bold"/>
                <a:cs typeface="+mj-cs"/>
                <a:sym typeface="Cairo Bold"/>
                <a:rtl/>
              </a:rPr>
              <a:t>النتائج</a:t>
            </a:r>
          </a:p>
          <a:p>
            <a:pPr marL="624551" lvl="1" indent="-312276" algn="r" rtl="1">
              <a:lnSpc>
                <a:spcPts val="6566"/>
              </a:lnSpc>
              <a:buFont typeface="Arial"/>
              <a:buChar char="•"/>
            </a:pPr>
            <a:r>
              <a:rPr lang="ar-SY" sz="3200" b="1" dirty="0">
                <a:solidFill>
                  <a:srgbClr val="FFFFFF"/>
                </a:solidFill>
                <a:latin typeface="B612 Bold"/>
                <a:ea typeface="B612 Bold"/>
                <a:cs typeface="+mj-cs"/>
                <a:sym typeface="B612 Bold"/>
                <a:rtl/>
              </a:rPr>
              <a:t>التحديات والحلول</a:t>
            </a:r>
            <a:endParaRPr lang="ar-EG" sz="3200" b="1" dirty="0">
              <a:solidFill>
                <a:srgbClr val="FFFFFF"/>
              </a:solidFill>
              <a:latin typeface="B612 Bold"/>
              <a:ea typeface="B612 Bold"/>
              <a:cs typeface="+mj-cs"/>
              <a:sym typeface="B612 Bold"/>
              <a:rtl/>
            </a:endParaRPr>
          </a:p>
          <a:p>
            <a:pPr marL="624551" lvl="1" indent="-312276" algn="r" rtl="1">
              <a:lnSpc>
                <a:spcPts val="6566"/>
              </a:lnSpc>
              <a:buFont typeface="Arial"/>
              <a:buChar char="•"/>
            </a:pPr>
            <a:r>
              <a:rPr lang="ar-SY" sz="3200" b="1" dirty="0">
                <a:solidFill>
                  <a:srgbClr val="FFFFFF"/>
                </a:solidFill>
                <a:latin typeface="B612 Bold"/>
                <a:ea typeface="B612 Bold"/>
                <a:cs typeface="+mj-cs"/>
                <a:sym typeface="B612 Bold"/>
                <a:rtl/>
              </a:rPr>
              <a:t>التطبيقات المستقبلية</a:t>
            </a:r>
            <a:endParaRPr lang="ar-SY" sz="2892" b="1" dirty="0">
              <a:solidFill>
                <a:srgbClr val="FFFFFF"/>
              </a:solidFill>
              <a:latin typeface="Cairo Bold"/>
              <a:ea typeface="Cairo Bold"/>
              <a:cs typeface="+mj-cs"/>
              <a:sym typeface="Cairo Bold"/>
              <a:rtl/>
            </a:endParaRPr>
          </a:p>
          <a:p>
            <a:pPr marL="624551" lvl="1" indent="-312276" algn="r" rtl="1">
              <a:lnSpc>
                <a:spcPts val="6566"/>
              </a:lnSpc>
              <a:buFont typeface="Arial"/>
              <a:buChar char="•"/>
            </a:pPr>
            <a:r>
              <a:rPr lang="ar-SY" sz="2892" b="1" dirty="0">
                <a:solidFill>
                  <a:srgbClr val="FFFFFF"/>
                </a:solidFill>
                <a:latin typeface="Cairo Bold"/>
                <a:ea typeface="Cairo Bold"/>
                <a:cs typeface="+mj-cs"/>
                <a:sym typeface="Cairo Bold"/>
                <a:rtl/>
              </a:rPr>
              <a:t>الافاق المستقبلية</a:t>
            </a:r>
          </a:p>
          <a:p>
            <a:pPr marL="624551" lvl="1" indent="-312276" algn="r" rtl="1">
              <a:lnSpc>
                <a:spcPts val="6566"/>
              </a:lnSpc>
              <a:buFont typeface="Arial"/>
              <a:buChar char="•"/>
            </a:pPr>
            <a:r>
              <a:rPr lang="ar-SY" sz="2892" b="1" dirty="0">
                <a:solidFill>
                  <a:srgbClr val="FFFFFF"/>
                </a:solidFill>
                <a:latin typeface="Cairo Bold"/>
                <a:ea typeface="Cairo Bold"/>
                <a:cs typeface="+mj-cs"/>
                <a:sym typeface="Cairo Bold"/>
                <a:rtl/>
              </a:rPr>
              <a:t>الخاتمة</a:t>
            </a:r>
            <a:endParaRPr lang="ar-EG" sz="2892" b="1" dirty="0">
              <a:solidFill>
                <a:srgbClr val="FFFFFF"/>
              </a:solidFill>
              <a:latin typeface="Cairo Bold"/>
              <a:ea typeface="Cairo Bold"/>
              <a:cs typeface="+mj-cs"/>
              <a:sym typeface="Cairo Bold"/>
              <a:rtl/>
            </a:endParaRPr>
          </a:p>
          <a:p>
            <a:pPr marL="624551" lvl="1" indent="-312276" algn="r" rtl="1">
              <a:lnSpc>
                <a:spcPts val="6566"/>
              </a:lnSpc>
              <a:buFont typeface="Arial"/>
              <a:buChar char="•"/>
            </a:pPr>
            <a:endParaRPr lang="ar-EG" sz="2892" b="1" dirty="0">
              <a:solidFill>
                <a:srgbClr val="FFFFFF"/>
              </a:solidFill>
              <a:latin typeface="Cairo Bold"/>
              <a:ea typeface="Cairo Bold"/>
              <a:cs typeface="+mj-cs"/>
              <a:sym typeface="Cairo Bold"/>
              <a:rtl/>
            </a:endParaRPr>
          </a:p>
        </p:txBody>
      </p:sp>
      <p:sp>
        <p:nvSpPr>
          <p:cNvPr id="14" name="شكل بيضاوي 13">
            <a:extLst>
              <a:ext uri="{FF2B5EF4-FFF2-40B4-BE49-F238E27FC236}">
                <a16:creationId xmlns:a16="http://schemas.microsoft.com/office/drawing/2014/main" id="{9C3D3B97-12F9-AC1B-D984-B205D5F72FA6}"/>
              </a:ext>
            </a:extLst>
          </p:cNvPr>
          <p:cNvSpPr/>
          <p:nvPr/>
        </p:nvSpPr>
        <p:spPr>
          <a:xfrm>
            <a:off x="1226237" y="1891651"/>
            <a:ext cx="4293441" cy="6287797"/>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MMCS</a:t>
            </a:r>
          </a:p>
        </p:txBody>
      </p:sp>
      <p:sp>
        <p:nvSpPr>
          <p:cNvPr id="4" name="AutoShape 4"/>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7" name="AutoShape 7"/>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sp>
        <p:nvSpPr>
          <p:cNvPr id="8" name="TextBox 8"/>
          <p:cNvSpPr txBox="1"/>
          <p:nvPr/>
        </p:nvSpPr>
        <p:spPr>
          <a:xfrm>
            <a:off x="11899888" y="9043956"/>
            <a:ext cx="4465543" cy="421269"/>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sp>
        <p:nvSpPr>
          <p:cNvPr id="10" name="TextBox 10"/>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Page 2</a:t>
            </a:r>
          </a:p>
        </p:txBody>
      </p:sp>
      <p:sp>
        <p:nvSpPr>
          <p:cNvPr id="11" name="TextBox 11"/>
          <p:cNvSpPr txBox="1"/>
          <p:nvPr/>
        </p:nvSpPr>
        <p:spPr>
          <a:xfrm>
            <a:off x="1814163" y="2221266"/>
            <a:ext cx="14369376" cy="5834033"/>
          </a:xfrm>
          <a:prstGeom prst="rect">
            <a:avLst/>
          </a:prstGeom>
        </p:spPr>
        <p:txBody>
          <a:bodyPr wrap="square" lIns="0" tIns="0" rIns="0" bIns="0" rtlCol="0" anchor="t">
            <a:spAutoFit/>
          </a:bodyPr>
          <a:lstStyle/>
          <a:p>
            <a:pPr algn="r" rtl="1">
              <a:lnSpc>
                <a:spcPts val="5091"/>
              </a:lnSpc>
            </a:pPr>
            <a:r>
              <a:rPr lang="ar-EG" sz="2892" dirty="0">
                <a:solidFill>
                  <a:srgbClr val="FFFFFF"/>
                </a:solidFill>
                <a:latin typeface="B612"/>
                <a:ea typeface="B612"/>
                <a:cs typeface="+mj-cs"/>
                <a:sym typeface="B612"/>
                <a:rtl/>
              </a:rPr>
              <a:t>يهدف مشروعنا إلى تطوير نظام ذكي لتصنيف المزاج الموسيقي باستخدام تقنيات التعلم العميق، لاسيما شبكات </a:t>
            </a:r>
            <a:r>
              <a:rPr lang="en-US" sz="2892" dirty="0">
                <a:solidFill>
                  <a:srgbClr val="FFFFFF"/>
                </a:solidFill>
                <a:latin typeface="Microsoft YaHei Light" panose="020B0502040204020203" pitchFamily="34" charset="-122"/>
                <a:ea typeface="Microsoft YaHei Light" panose="020B0502040204020203" pitchFamily="34" charset="-122"/>
                <a:cs typeface="+mj-cs"/>
                <a:sym typeface="B612"/>
                <a:rtl/>
              </a:rPr>
              <a:t>Convolutional Neural Networks (CNN) </a:t>
            </a:r>
            <a:r>
              <a:rPr lang="ar-SY" sz="2892" dirty="0">
                <a:solidFill>
                  <a:srgbClr val="FFFFFF"/>
                </a:solidFill>
                <a:latin typeface="Microsoft YaHei Light" panose="020B0502040204020203" pitchFamily="34" charset="-122"/>
                <a:ea typeface="Microsoft YaHei Light" panose="020B0502040204020203" pitchFamily="34" charset="-122"/>
                <a:cs typeface="+mj-cs"/>
                <a:sym typeface="B612"/>
                <a:rtl/>
              </a:rPr>
              <a:t> </a:t>
            </a:r>
            <a:r>
              <a:rPr lang="ar-EG" sz="2892" dirty="0">
                <a:solidFill>
                  <a:srgbClr val="FFFFFF"/>
                </a:solidFill>
                <a:latin typeface="B612"/>
                <a:ea typeface="B612"/>
                <a:cs typeface="+mj-cs"/>
                <a:sym typeface="B612"/>
                <a:rtl/>
              </a:rPr>
              <a:t>يتمثل الهدف الرئيسي في تصميم خوارزميات متقدمة قادرة على تحليل الخصائص الصوتية للموسيقى بدقة عالية، لتحديد الحالة المزاجية المرتبطة بها مثل السعادة، الغضب، الحزن، والاسترخاء. يقوم النظام بمعالجة ملفات صوتية متنوعة واستخلاص مجموعة غنية من الخصائص الصوتية مثل </a:t>
            </a:r>
            <a:r>
              <a:rPr lang="en-US" sz="2892" dirty="0">
                <a:solidFill>
                  <a:srgbClr val="FFFFFF"/>
                </a:solidFill>
                <a:latin typeface="B612"/>
                <a:ea typeface="B612"/>
                <a:cs typeface="+mj-cs"/>
                <a:sym typeface="B612"/>
                <a:rtl/>
              </a:rPr>
              <a:t>MFCCs، </a:t>
            </a:r>
            <a:r>
              <a:rPr lang="ar-EG" sz="2892" dirty="0">
                <a:solidFill>
                  <a:srgbClr val="FFFFFF"/>
                </a:solidFill>
                <a:latin typeface="B612"/>
                <a:ea typeface="B612"/>
                <a:cs typeface="+mj-cs"/>
                <a:sym typeface="B612"/>
                <a:rtl/>
              </a:rPr>
              <a:t>الطيف الصوتي، والنغمات، ليقدم تقريرًا فوريًا حول المزاج الموسيقي المستخلص. يساهم هذا النظام في تسريع عملية تصنيف الموسيقى وتوفير دعم تقني لمجالات متعددة مثل التوصيات الموسيقية والعلاج بالموسيقى. تم تدريب النموذج على مجموعتين مختلفتين من البيانات، مما أدى إلى تحقيق دقة تصنيف تجاوزت 90%، مع تحسينات مستمرة من خلال تقنيات زيادة البيانات لتعزيز استقرار الأداء. الهدف النهائي هو تقديم أداة مبتكرة تسهم في تحسين تجربة المستخدم وتساعد في تطوير حلول تقنية تعتمد على الذكاء الصناعي في المجال الموسيقي.</a:t>
            </a:r>
          </a:p>
        </p:txBody>
      </p:sp>
      <p:sp>
        <p:nvSpPr>
          <p:cNvPr id="14" name="TextBox 14"/>
          <p:cNvSpPr txBox="1"/>
          <p:nvPr/>
        </p:nvSpPr>
        <p:spPr>
          <a:xfrm>
            <a:off x="14873893" y="1341842"/>
            <a:ext cx="1454795" cy="689804"/>
          </a:xfrm>
          <a:prstGeom prst="rect">
            <a:avLst/>
          </a:prstGeom>
        </p:spPr>
        <p:txBody>
          <a:bodyPr lIns="0" tIns="0" rIns="0" bIns="0" rtlCol="0" anchor="t">
            <a:spAutoFit/>
          </a:bodyPr>
          <a:lstStyle/>
          <a:p>
            <a:pPr algn="ctr" rtl="1">
              <a:lnSpc>
                <a:spcPts val="5868"/>
              </a:lnSpc>
              <a:spcBef>
                <a:spcPct val="0"/>
              </a:spcBef>
            </a:pPr>
            <a:r>
              <a:rPr lang="ar-SY" sz="4191" b="1" dirty="0">
                <a:solidFill>
                  <a:srgbClr val="FFFFFF"/>
                </a:solidFill>
                <a:latin typeface="Arial" panose="020B0604020202020204" pitchFamily="34" charset="0"/>
                <a:ea typeface="B612 Bold"/>
                <a:cs typeface="Arial" panose="020B0604020202020204" pitchFamily="34" charset="0"/>
                <a:sym typeface="B612 Bold"/>
                <a:rtl/>
              </a:rPr>
              <a:t>المقدمة</a:t>
            </a:r>
            <a:endParaRPr lang="ar-EG" sz="4191" b="1" dirty="0">
              <a:solidFill>
                <a:srgbClr val="FFFFFF"/>
              </a:solidFill>
              <a:latin typeface="Arial" panose="020B0604020202020204" pitchFamily="34" charset="0"/>
              <a:ea typeface="B612 Bold"/>
              <a:cs typeface="Arial" panose="020B0604020202020204" pitchFamily="34" charset="0"/>
              <a:sym typeface="B612 Bold"/>
              <a:rt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grpSp>
        <p:nvGrpSpPr>
          <p:cNvPr id="7" name="Group 7"/>
          <p:cNvGrpSpPr/>
          <p:nvPr/>
        </p:nvGrpSpPr>
        <p:grpSpPr>
          <a:xfrm>
            <a:off x="11773661" y="3807494"/>
            <a:ext cx="4912874" cy="3764497"/>
            <a:chOff x="0" y="0"/>
            <a:chExt cx="1397260" cy="1070653"/>
          </a:xfrm>
        </p:grpSpPr>
        <p:sp>
          <p:nvSpPr>
            <p:cNvPr id="8" name="Freeform 8"/>
            <p:cNvSpPr/>
            <p:nvPr/>
          </p:nvSpPr>
          <p:spPr>
            <a:xfrm>
              <a:off x="0" y="0"/>
              <a:ext cx="1397260" cy="1070653"/>
            </a:xfrm>
            <a:custGeom>
              <a:avLst/>
              <a:gdLst/>
              <a:ahLst/>
              <a:cxnLst/>
              <a:rect l="l" t="t" r="r" b="b"/>
              <a:pathLst>
                <a:path w="1397260" h="1070653">
                  <a:moveTo>
                    <a:pt x="26789" y="0"/>
                  </a:moveTo>
                  <a:lnTo>
                    <a:pt x="1370471" y="0"/>
                  </a:lnTo>
                  <a:cubicBezTo>
                    <a:pt x="1385266" y="0"/>
                    <a:pt x="1397260" y="11994"/>
                    <a:pt x="1397260" y="26789"/>
                  </a:cubicBezTo>
                  <a:lnTo>
                    <a:pt x="1397260" y="1043863"/>
                  </a:lnTo>
                  <a:cubicBezTo>
                    <a:pt x="1397260" y="1058659"/>
                    <a:pt x="1385266" y="1070653"/>
                    <a:pt x="1370471" y="1070653"/>
                  </a:cubicBezTo>
                  <a:lnTo>
                    <a:pt x="26789" y="1070653"/>
                  </a:lnTo>
                  <a:cubicBezTo>
                    <a:pt x="11994" y="1070653"/>
                    <a:pt x="0" y="1058659"/>
                    <a:pt x="0" y="1043863"/>
                  </a:cubicBezTo>
                  <a:lnTo>
                    <a:pt x="0" y="26789"/>
                  </a:lnTo>
                  <a:cubicBezTo>
                    <a:pt x="0" y="11994"/>
                    <a:pt x="11994" y="0"/>
                    <a:pt x="26789" y="0"/>
                  </a:cubicBezTo>
                  <a:close/>
                </a:path>
              </a:pathLst>
            </a:custGeom>
            <a:solidFill>
              <a:srgbClr val="FFFFFF">
                <a:alpha val="15686"/>
              </a:srgbClr>
            </a:solidFill>
          </p:spPr>
        </p:sp>
        <p:sp>
          <p:nvSpPr>
            <p:cNvPr id="9" name="TextBox 9"/>
            <p:cNvSpPr txBox="1"/>
            <p:nvPr/>
          </p:nvSpPr>
          <p:spPr>
            <a:xfrm>
              <a:off x="0" y="-47625"/>
              <a:ext cx="1397260" cy="1118278"/>
            </a:xfrm>
            <a:prstGeom prst="rect">
              <a:avLst/>
            </a:prstGeom>
          </p:spPr>
          <p:txBody>
            <a:bodyPr lIns="50800" tIns="50800" rIns="50800" bIns="50800" rtlCol="0" anchor="ctr"/>
            <a:lstStyle/>
            <a:p>
              <a:pPr algn="ctr">
                <a:lnSpc>
                  <a:spcPts val="3146"/>
                </a:lnSpc>
              </a:pPr>
              <a:endParaRPr/>
            </a:p>
          </p:txBody>
        </p:sp>
      </p:grpSp>
      <p:grpSp>
        <p:nvGrpSpPr>
          <p:cNvPr id="10" name="Group 10"/>
          <p:cNvGrpSpPr/>
          <p:nvPr/>
        </p:nvGrpSpPr>
        <p:grpSpPr>
          <a:xfrm>
            <a:off x="6694686" y="3807494"/>
            <a:ext cx="4912874" cy="3764497"/>
            <a:chOff x="0" y="0"/>
            <a:chExt cx="1397260" cy="1070653"/>
          </a:xfrm>
        </p:grpSpPr>
        <p:sp>
          <p:nvSpPr>
            <p:cNvPr id="11" name="Freeform 11"/>
            <p:cNvSpPr/>
            <p:nvPr/>
          </p:nvSpPr>
          <p:spPr>
            <a:xfrm>
              <a:off x="0" y="0"/>
              <a:ext cx="1397260" cy="1070653"/>
            </a:xfrm>
            <a:custGeom>
              <a:avLst/>
              <a:gdLst/>
              <a:ahLst/>
              <a:cxnLst/>
              <a:rect l="l" t="t" r="r" b="b"/>
              <a:pathLst>
                <a:path w="1397260" h="1070653">
                  <a:moveTo>
                    <a:pt x="26789" y="0"/>
                  </a:moveTo>
                  <a:lnTo>
                    <a:pt x="1370471" y="0"/>
                  </a:lnTo>
                  <a:cubicBezTo>
                    <a:pt x="1385266" y="0"/>
                    <a:pt x="1397260" y="11994"/>
                    <a:pt x="1397260" y="26789"/>
                  </a:cubicBezTo>
                  <a:lnTo>
                    <a:pt x="1397260" y="1043863"/>
                  </a:lnTo>
                  <a:cubicBezTo>
                    <a:pt x="1397260" y="1058659"/>
                    <a:pt x="1385266" y="1070653"/>
                    <a:pt x="1370471" y="1070653"/>
                  </a:cubicBezTo>
                  <a:lnTo>
                    <a:pt x="26789" y="1070653"/>
                  </a:lnTo>
                  <a:cubicBezTo>
                    <a:pt x="11994" y="1070653"/>
                    <a:pt x="0" y="1058659"/>
                    <a:pt x="0" y="1043863"/>
                  </a:cubicBezTo>
                  <a:lnTo>
                    <a:pt x="0" y="26789"/>
                  </a:lnTo>
                  <a:cubicBezTo>
                    <a:pt x="0" y="11994"/>
                    <a:pt x="11994" y="0"/>
                    <a:pt x="26789" y="0"/>
                  </a:cubicBezTo>
                  <a:close/>
                </a:path>
              </a:pathLst>
            </a:custGeom>
            <a:solidFill>
              <a:srgbClr val="FFFFFF">
                <a:alpha val="15686"/>
              </a:srgbClr>
            </a:solidFill>
          </p:spPr>
        </p:sp>
        <p:sp>
          <p:nvSpPr>
            <p:cNvPr id="12" name="TextBox 12"/>
            <p:cNvSpPr txBox="1"/>
            <p:nvPr/>
          </p:nvSpPr>
          <p:spPr>
            <a:xfrm>
              <a:off x="0" y="-47625"/>
              <a:ext cx="1397260" cy="1118278"/>
            </a:xfrm>
            <a:prstGeom prst="rect">
              <a:avLst/>
            </a:prstGeom>
          </p:spPr>
          <p:txBody>
            <a:bodyPr lIns="50800" tIns="50800" rIns="50800" bIns="50800" rtlCol="0" anchor="ctr"/>
            <a:lstStyle/>
            <a:p>
              <a:pPr algn="ctr">
                <a:lnSpc>
                  <a:spcPts val="3146"/>
                </a:lnSpc>
              </a:pPr>
              <a:endParaRPr/>
            </a:p>
          </p:txBody>
        </p:sp>
      </p:grpSp>
      <p:grpSp>
        <p:nvGrpSpPr>
          <p:cNvPr id="13" name="Group 13"/>
          <p:cNvGrpSpPr/>
          <p:nvPr/>
        </p:nvGrpSpPr>
        <p:grpSpPr>
          <a:xfrm>
            <a:off x="1619887" y="3807494"/>
            <a:ext cx="4912874" cy="3764497"/>
            <a:chOff x="0" y="0"/>
            <a:chExt cx="1397260" cy="1070653"/>
          </a:xfrm>
        </p:grpSpPr>
        <p:sp>
          <p:nvSpPr>
            <p:cNvPr id="14" name="Freeform 14"/>
            <p:cNvSpPr/>
            <p:nvPr/>
          </p:nvSpPr>
          <p:spPr>
            <a:xfrm>
              <a:off x="0" y="0"/>
              <a:ext cx="1397260" cy="1070653"/>
            </a:xfrm>
            <a:custGeom>
              <a:avLst/>
              <a:gdLst/>
              <a:ahLst/>
              <a:cxnLst/>
              <a:rect l="l" t="t" r="r" b="b"/>
              <a:pathLst>
                <a:path w="1397260" h="1070653">
                  <a:moveTo>
                    <a:pt x="26789" y="0"/>
                  </a:moveTo>
                  <a:lnTo>
                    <a:pt x="1370471" y="0"/>
                  </a:lnTo>
                  <a:cubicBezTo>
                    <a:pt x="1385266" y="0"/>
                    <a:pt x="1397260" y="11994"/>
                    <a:pt x="1397260" y="26789"/>
                  </a:cubicBezTo>
                  <a:lnTo>
                    <a:pt x="1397260" y="1043863"/>
                  </a:lnTo>
                  <a:cubicBezTo>
                    <a:pt x="1397260" y="1058659"/>
                    <a:pt x="1385266" y="1070653"/>
                    <a:pt x="1370471" y="1070653"/>
                  </a:cubicBezTo>
                  <a:lnTo>
                    <a:pt x="26789" y="1070653"/>
                  </a:lnTo>
                  <a:cubicBezTo>
                    <a:pt x="11994" y="1070653"/>
                    <a:pt x="0" y="1058659"/>
                    <a:pt x="0" y="1043863"/>
                  </a:cubicBezTo>
                  <a:lnTo>
                    <a:pt x="0" y="26789"/>
                  </a:lnTo>
                  <a:cubicBezTo>
                    <a:pt x="0" y="11994"/>
                    <a:pt x="11994" y="0"/>
                    <a:pt x="26789" y="0"/>
                  </a:cubicBezTo>
                  <a:close/>
                </a:path>
              </a:pathLst>
            </a:custGeom>
            <a:solidFill>
              <a:srgbClr val="FFFFFF">
                <a:alpha val="15686"/>
              </a:srgbClr>
            </a:solidFill>
          </p:spPr>
        </p:sp>
        <p:sp>
          <p:nvSpPr>
            <p:cNvPr id="15" name="TextBox 15"/>
            <p:cNvSpPr txBox="1"/>
            <p:nvPr/>
          </p:nvSpPr>
          <p:spPr>
            <a:xfrm>
              <a:off x="0" y="-47625"/>
              <a:ext cx="1397260" cy="1118278"/>
            </a:xfrm>
            <a:prstGeom prst="rect">
              <a:avLst/>
            </a:prstGeom>
          </p:spPr>
          <p:txBody>
            <a:bodyPr lIns="50800" tIns="50800" rIns="50800" bIns="50800" rtlCol="0" anchor="ctr"/>
            <a:lstStyle/>
            <a:p>
              <a:pPr algn="ctr">
                <a:lnSpc>
                  <a:spcPts val="3146"/>
                </a:lnSpc>
              </a:pPr>
              <a:endParaRPr/>
            </a:p>
          </p:txBody>
        </p:sp>
      </p:grpSp>
      <p:sp>
        <p:nvSpPr>
          <p:cNvPr id="16" name="TextBox 16"/>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MMCS</a:t>
            </a:r>
          </a:p>
        </p:txBody>
      </p:sp>
      <p:sp>
        <p:nvSpPr>
          <p:cNvPr id="17" name="TextBox 17"/>
          <p:cNvSpPr txBox="1"/>
          <p:nvPr/>
        </p:nvSpPr>
        <p:spPr>
          <a:xfrm>
            <a:off x="11899888" y="9043956"/>
            <a:ext cx="4465543" cy="397545"/>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Arial" panose="020B0604020202020204" pitchFamily="34" charset="0"/>
                <a:ea typeface="B612"/>
                <a:cs typeface="Arial" panose="020B0604020202020204" pitchFamily="34" charset="0"/>
                <a:sym typeface="B612"/>
              </a:rPr>
              <a:t>تصنيف المزاج الموسيقي</a:t>
            </a:r>
          </a:p>
        </p:txBody>
      </p:sp>
      <p:sp>
        <p:nvSpPr>
          <p:cNvPr id="19" name="TextBox 19"/>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Page 3</a:t>
            </a:r>
          </a:p>
        </p:txBody>
      </p:sp>
      <p:sp>
        <p:nvSpPr>
          <p:cNvPr id="23" name="TextBox 23"/>
          <p:cNvSpPr txBox="1"/>
          <p:nvPr/>
        </p:nvSpPr>
        <p:spPr>
          <a:xfrm>
            <a:off x="12487141" y="4629150"/>
            <a:ext cx="3481303" cy="1596399"/>
          </a:xfrm>
          <a:prstGeom prst="rect">
            <a:avLst/>
          </a:prstGeom>
        </p:spPr>
        <p:txBody>
          <a:bodyPr lIns="0" tIns="0" rIns="0" bIns="0" rtlCol="0" anchor="t">
            <a:spAutoFit/>
          </a:bodyPr>
          <a:lstStyle/>
          <a:p>
            <a:pPr algn="ctr" rtl="1">
              <a:lnSpc>
                <a:spcPts val="4191"/>
              </a:lnSpc>
              <a:spcBef>
                <a:spcPct val="0"/>
              </a:spcBef>
            </a:pPr>
            <a:r>
              <a:rPr lang="ar-EG" sz="2994" dirty="0">
                <a:solidFill>
                  <a:srgbClr val="FFFFFF"/>
                </a:solidFill>
                <a:latin typeface="Arial" panose="020B0604020202020204" pitchFamily="34" charset="0"/>
                <a:ea typeface="B612 Bold"/>
                <a:cs typeface="Arial" panose="020B0604020202020204" pitchFamily="34" charset="0"/>
                <a:sym typeface="B612 Bold"/>
                <a:rtl/>
              </a:rPr>
              <a:t>تحقيق دقة عالية في تصنيف المزاج الموسيقي باستخدام نماذج </a:t>
            </a:r>
            <a:r>
              <a:rPr lang="en-US" sz="2994" dirty="0">
                <a:solidFill>
                  <a:srgbClr val="FFFFFF"/>
                </a:solidFill>
                <a:latin typeface="Arial" panose="020B0604020202020204" pitchFamily="34" charset="0"/>
                <a:ea typeface="B612 Bold"/>
                <a:cs typeface="Arial" panose="020B0604020202020204" pitchFamily="34" charset="0"/>
                <a:sym typeface="B612 Bold"/>
                <a:rtl/>
              </a:rPr>
              <a:t>CNN</a:t>
            </a:r>
          </a:p>
        </p:txBody>
      </p:sp>
      <p:sp>
        <p:nvSpPr>
          <p:cNvPr id="24" name="TextBox 24"/>
          <p:cNvSpPr txBox="1"/>
          <p:nvPr/>
        </p:nvSpPr>
        <p:spPr>
          <a:xfrm>
            <a:off x="7623346" y="4601051"/>
            <a:ext cx="3041308" cy="1596399"/>
          </a:xfrm>
          <a:prstGeom prst="rect">
            <a:avLst/>
          </a:prstGeom>
        </p:spPr>
        <p:txBody>
          <a:bodyPr lIns="0" tIns="0" rIns="0" bIns="0" rtlCol="0" anchor="t">
            <a:spAutoFit/>
          </a:bodyPr>
          <a:lstStyle/>
          <a:p>
            <a:pPr algn="ctr" rtl="1">
              <a:lnSpc>
                <a:spcPts val="4191"/>
              </a:lnSpc>
              <a:spcBef>
                <a:spcPct val="0"/>
              </a:spcBef>
            </a:pPr>
            <a:r>
              <a:rPr lang="ar-EG" sz="2994" dirty="0">
                <a:solidFill>
                  <a:srgbClr val="FFFFFF"/>
                </a:solidFill>
                <a:latin typeface="Arial" panose="020B0604020202020204" pitchFamily="34" charset="0"/>
                <a:ea typeface="B612 Bold"/>
                <a:cs typeface="Arial" panose="020B0604020202020204" pitchFamily="34" charset="0"/>
                <a:sym typeface="B612 Bold"/>
                <a:rtl/>
              </a:rPr>
              <a:t>توفير أداة تفاعلية لتحليل الملفات الصوتية وتقديم نتائج فورية.</a:t>
            </a:r>
          </a:p>
        </p:txBody>
      </p:sp>
      <p:sp>
        <p:nvSpPr>
          <p:cNvPr id="25" name="TextBox 25"/>
          <p:cNvSpPr txBox="1"/>
          <p:nvPr/>
        </p:nvSpPr>
        <p:spPr>
          <a:xfrm>
            <a:off x="2447337" y="4629150"/>
            <a:ext cx="2857247" cy="1596399"/>
          </a:xfrm>
          <a:prstGeom prst="rect">
            <a:avLst/>
          </a:prstGeom>
        </p:spPr>
        <p:txBody>
          <a:bodyPr lIns="0" tIns="0" rIns="0" bIns="0" rtlCol="0" anchor="t">
            <a:spAutoFit/>
          </a:bodyPr>
          <a:lstStyle/>
          <a:p>
            <a:pPr algn="ctr" rtl="1">
              <a:lnSpc>
                <a:spcPts val="4191"/>
              </a:lnSpc>
              <a:spcBef>
                <a:spcPct val="0"/>
              </a:spcBef>
            </a:pPr>
            <a:r>
              <a:rPr lang="ar-EG" sz="2994" dirty="0">
                <a:solidFill>
                  <a:srgbClr val="FFFFFF"/>
                </a:solidFill>
                <a:latin typeface="B612 Bold"/>
                <a:ea typeface="B612 Bold"/>
                <a:sym typeface="B612 Bold"/>
                <a:rtl/>
              </a:rPr>
              <a:t>فهم العلاقة بين الخصائص الصوتية والعواطف البشرية.</a:t>
            </a:r>
          </a:p>
        </p:txBody>
      </p:sp>
      <p:sp>
        <p:nvSpPr>
          <p:cNvPr id="26" name="TextBox 26"/>
          <p:cNvSpPr txBox="1"/>
          <p:nvPr/>
        </p:nvSpPr>
        <p:spPr>
          <a:xfrm>
            <a:off x="6317099" y="1894369"/>
            <a:ext cx="5672223" cy="877548"/>
          </a:xfrm>
          <a:prstGeom prst="rect">
            <a:avLst/>
          </a:prstGeom>
        </p:spPr>
        <p:txBody>
          <a:bodyPr lIns="0" tIns="0" rIns="0" bIns="0" rtlCol="0" anchor="t">
            <a:spAutoFit/>
          </a:bodyPr>
          <a:lstStyle/>
          <a:p>
            <a:pPr algn="ctr" rtl="1">
              <a:lnSpc>
                <a:spcPts val="7492"/>
              </a:lnSpc>
              <a:spcBef>
                <a:spcPct val="0"/>
              </a:spcBef>
            </a:pPr>
            <a:r>
              <a:rPr lang="ar-SY" sz="4800" b="1" dirty="0">
                <a:solidFill>
                  <a:srgbClr val="FFFFFF"/>
                </a:solidFill>
                <a:latin typeface="Arial" panose="020B0604020202020204" pitchFamily="34" charset="0"/>
                <a:ea typeface="B612 Bold"/>
                <a:cs typeface="Arial" panose="020B0604020202020204" pitchFamily="34" charset="0"/>
                <a:sym typeface="B612 Bold"/>
                <a:rtl/>
              </a:rPr>
              <a:t>اهداف المشروع</a:t>
            </a:r>
            <a:endParaRPr lang="ar-EG" sz="4800" b="1" dirty="0">
              <a:solidFill>
                <a:srgbClr val="FFFFFF"/>
              </a:solidFill>
              <a:latin typeface="Arial" panose="020B0604020202020204" pitchFamily="34" charset="0"/>
              <a:ea typeface="B612 Bold"/>
              <a:cs typeface="Arial" panose="020B0604020202020204" pitchFamily="34" charset="0"/>
              <a:sym typeface="B612 Bold"/>
              <a:rtl/>
            </a:endParaRPr>
          </a:p>
        </p:txBody>
      </p:sp>
      <p:pic>
        <p:nvPicPr>
          <p:cNvPr id="27" name="صورة 26">
            <a:extLst>
              <a:ext uri="{FF2B5EF4-FFF2-40B4-BE49-F238E27FC236}">
                <a16:creationId xmlns:a16="http://schemas.microsoft.com/office/drawing/2014/main" id="{24CA6DC3-8700-49F6-8891-0658C7A2A4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5373" y="484100"/>
            <a:ext cx="3155941" cy="315594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p>
        </p:txBody>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sp>
        <p:nvSpPr>
          <p:cNvPr id="10" name="TextBox 10"/>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MMCS</a:t>
            </a:r>
          </a:p>
        </p:txBody>
      </p:sp>
      <p:sp>
        <p:nvSpPr>
          <p:cNvPr id="11" name="TextBox 11"/>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sp>
        <p:nvSpPr>
          <p:cNvPr id="13" name="TextBox 13"/>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Page 4</a:t>
            </a:r>
          </a:p>
        </p:txBody>
      </p:sp>
      <p:sp>
        <p:nvSpPr>
          <p:cNvPr id="16" name="TextBox 16"/>
          <p:cNvSpPr txBox="1"/>
          <p:nvPr/>
        </p:nvSpPr>
        <p:spPr>
          <a:xfrm>
            <a:off x="7391400" y="1858988"/>
            <a:ext cx="3200397" cy="666849"/>
          </a:xfrm>
          <a:prstGeom prst="rect">
            <a:avLst/>
          </a:prstGeom>
        </p:spPr>
        <p:txBody>
          <a:bodyPr wrap="square" lIns="0" tIns="0" rIns="0" bIns="0" rtlCol="0" anchor="t">
            <a:spAutoFit/>
          </a:bodyPr>
          <a:lstStyle/>
          <a:p>
            <a:pPr algn="ctr" rtl="1">
              <a:lnSpc>
                <a:spcPts val="5163"/>
              </a:lnSpc>
              <a:spcBef>
                <a:spcPct val="0"/>
              </a:spcBef>
            </a:pPr>
            <a:r>
              <a:rPr lang="ar-SY" sz="4400" b="1" dirty="0">
                <a:solidFill>
                  <a:srgbClr val="FFFFFF"/>
                </a:solidFill>
                <a:latin typeface="Arial" panose="020B0604020202020204" pitchFamily="34" charset="0"/>
                <a:ea typeface="B612 Bold"/>
                <a:cs typeface="Arial" panose="020B0604020202020204" pitchFamily="34" charset="0"/>
                <a:sym typeface="B612 Bold"/>
                <a:rtl/>
              </a:rPr>
              <a:t>الأهداف التقنية</a:t>
            </a:r>
            <a:endParaRPr lang="ar-EG" sz="4400" b="1" dirty="0">
              <a:solidFill>
                <a:srgbClr val="FFFFFF"/>
              </a:solidFill>
              <a:latin typeface="Arial" panose="020B0604020202020204" pitchFamily="34" charset="0"/>
              <a:ea typeface="B612 Bold"/>
              <a:cs typeface="Arial" panose="020B0604020202020204" pitchFamily="34" charset="0"/>
              <a:sym typeface="B612 Bold"/>
              <a:rtl/>
            </a:endParaRPr>
          </a:p>
        </p:txBody>
      </p:sp>
      <p:grpSp>
        <p:nvGrpSpPr>
          <p:cNvPr id="18" name="Group 18"/>
          <p:cNvGrpSpPr/>
          <p:nvPr/>
        </p:nvGrpSpPr>
        <p:grpSpPr>
          <a:xfrm>
            <a:off x="11613226" y="3753726"/>
            <a:ext cx="4250101" cy="3549099"/>
            <a:chOff x="0" y="0"/>
            <a:chExt cx="1257251" cy="728274"/>
          </a:xfrm>
        </p:grpSpPr>
        <p:sp>
          <p:nvSpPr>
            <p:cNvPr id="19" name="Freeform 19"/>
            <p:cNvSpPr/>
            <p:nvPr/>
          </p:nvSpPr>
          <p:spPr>
            <a:xfrm>
              <a:off x="0" y="0"/>
              <a:ext cx="1257251" cy="728274"/>
            </a:xfrm>
            <a:custGeom>
              <a:avLst/>
              <a:gdLst/>
              <a:ahLst/>
              <a:cxnLst/>
              <a:rect l="l" t="t" r="r" b="b"/>
              <a:pathLst>
                <a:path w="1257251" h="728274">
                  <a:moveTo>
                    <a:pt x="36487" y="0"/>
                  </a:moveTo>
                  <a:lnTo>
                    <a:pt x="1220765" y="0"/>
                  </a:lnTo>
                  <a:cubicBezTo>
                    <a:pt x="1240916" y="0"/>
                    <a:pt x="1257251" y="16336"/>
                    <a:pt x="1257251" y="36487"/>
                  </a:cubicBezTo>
                  <a:lnTo>
                    <a:pt x="1257251" y="691788"/>
                  </a:lnTo>
                  <a:cubicBezTo>
                    <a:pt x="1257251" y="711939"/>
                    <a:pt x="1240916" y="728274"/>
                    <a:pt x="1220765" y="728274"/>
                  </a:cubicBezTo>
                  <a:lnTo>
                    <a:pt x="36487" y="728274"/>
                  </a:lnTo>
                  <a:cubicBezTo>
                    <a:pt x="16336" y="728274"/>
                    <a:pt x="0" y="711939"/>
                    <a:pt x="0" y="691788"/>
                  </a:cubicBezTo>
                  <a:lnTo>
                    <a:pt x="0" y="36487"/>
                  </a:lnTo>
                  <a:cubicBezTo>
                    <a:pt x="0" y="16336"/>
                    <a:pt x="16336" y="0"/>
                    <a:pt x="36487" y="0"/>
                  </a:cubicBezTo>
                  <a:close/>
                </a:path>
              </a:pathLst>
            </a:custGeom>
            <a:solidFill>
              <a:srgbClr val="FFFFFF">
                <a:alpha val="15686"/>
              </a:srgbClr>
            </a:solidFill>
          </p:spPr>
        </p:sp>
        <p:sp>
          <p:nvSpPr>
            <p:cNvPr id="20" name="TextBox 20"/>
            <p:cNvSpPr txBox="1"/>
            <p:nvPr/>
          </p:nvSpPr>
          <p:spPr>
            <a:xfrm>
              <a:off x="0" y="-47625"/>
              <a:ext cx="1257251" cy="775899"/>
            </a:xfrm>
            <a:prstGeom prst="rect">
              <a:avLst/>
            </a:prstGeom>
          </p:spPr>
          <p:txBody>
            <a:bodyPr lIns="50800" tIns="50800" rIns="50800" bIns="50800" rtlCol="0" anchor="ctr"/>
            <a:lstStyle/>
            <a:p>
              <a:pPr algn="ctr">
                <a:lnSpc>
                  <a:spcPts val="3146"/>
                </a:lnSpc>
              </a:pPr>
              <a:endParaRPr/>
            </a:p>
          </p:txBody>
        </p:sp>
      </p:grpSp>
      <p:grpSp>
        <p:nvGrpSpPr>
          <p:cNvPr id="21" name="Group 21"/>
          <p:cNvGrpSpPr/>
          <p:nvPr/>
        </p:nvGrpSpPr>
        <p:grpSpPr>
          <a:xfrm>
            <a:off x="7131177" y="3740391"/>
            <a:ext cx="4073556" cy="3549099"/>
            <a:chOff x="0" y="0"/>
            <a:chExt cx="1257251" cy="728274"/>
          </a:xfrm>
        </p:grpSpPr>
        <p:sp>
          <p:nvSpPr>
            <p:cNvPr id="22" name="Freeform 22"/>
            <p:cNvSpPr/>
            <p:nvPr/>
          </p:nvSpPr>
          <p:spPr>
            <a:xfrm>
              <a:off x="0" y="0"/>
              <a:ext cx="1257251" cy="728274"/>
            </a:xfrm>
            <a:custGeom>
              <a:avLst/>
              <a:gdLst/>
              <a:ahLst/>
              <a:cxnLst/>
              <a:rect l="l" t="t" r="r" b="b"/>
              <a:pathLst>
                <a:path w="1257251" h="728274">
                  <a:moveTo>
                    <a:pt x="36487" y="0"/>
                  </a:moveTo>
                  <a:lnTo>
                    <a:pt x="1220765" y="0"/>
                  </a:lnTo>
                  <a:cubicBezTo>
                    <a:pt x="1240916" y="0"/>
                    <a:pt x="1257251" y="16336"/>
                    <a:pt x="1257251" y="36487"/>
                  </a:cubicBezTo>
                  <a:lnTo>
                    <a:pt x="1257251" y="691788"/>
                  </a:lnTo>
                  <a:cubicBezTo>
                    <a:pt x="1257251" y="711939"/>
                    <a:pt x="1240916" y="728274"/>
                    <a:pt x="1220765" y="728274"/>
                  </a:cubicBezTo>
                  <a:lnTo>
                    <a:pt x="36487" y="728274"/>
                  </a:lnTo>
                  <a:cubicBezTo>
                    <a:pt x="16336" y="728274"/>
                    <a:pt x="0" y="711939"/>
                    <a:pt x="0" y="691788"/>
                  </a:cubicBezTo>
                  <a:lnTo>
                    <a:pt x="0" y="36487"/>
                  </a:lnTo>
                  <a:cubicBezTo>
                    <a:pt x="0" y="16336"/>
                    <a:pt x="16336" y="0"/>
                    <a:pt x="36487" y="0"/>
                  </a:cubicBezTo>
                  <a:close/>
                </a:path>
              </a:pathLst>
            </a:custGeom>
            <a:solidFill>
              <a:srgbClr val="FFFFFF">
                <a:alpha val="15686"/>
              </a:srgbClr>
            </a:solidFill>
          </p:spPr>
        </p:sp>
        <p:sp>
          <p:nvSpPr>
            <p:cNvPr id="23" name="TextBox 23"/>
            <p:cNvSpPr txBox="1"/>
            <p:nvPr/>
          </p:nvSpPr>
          <p:spPr>
            <a:xfrm>
              <a:off x="0" y="-47625"/>
              <a:ext cx="1257251" cy="775899"/>
            </a:xfrm>
            <a:prstGeom prst="rect">
              <a:avLst/>
            </a:prstGeom>
          </p:spPr>
          <p:txBody>
            <a:bodyPr lIns="50800" tIns="50800" rIns="50800" bIns="50800" rtlCol="0" anchor="ctr"/>
            <a:lstStyle/>
            <a:p>
              <a:pPr algn="ctr">
                <a:lnSpc>
                  <a:spcPts val="3146"/>
                </a:lnSpc>
              </a:pPr>
              <a:endParaRPr/>
            </a:p>
          </p:txBody>
        </p:sp>
      </p:grpSp>
      <p:grpSp>
        <p:nvGrpSpPr>
          <p:cNvPr id="24" name="Group 24"/>
          <p:cNvGrpSpPr/>
          <p:nvPr/>
        </p:nvGrpSpPr>
        <p:grpSpPr>
          <a:xfrm>
            <a:off x="2620447" y="3671400"/>
            <a:ext cx="4102237" cy="3549098"/>
            <a:chOff x="0" y="0"/>
            <a:chExt cx="1257251" cy="728274"/>
          </a:xfrm>
        </p:grpSpPr>
        <p:sp>
          <p:nvSpPr>
            <p:cNvPr id="25" name="Freeform 25"/>
            <p:cNvSpPr/>
            <p:nvPr/>
          </p:nvSpPr>
          <p:spPr>
            <a:xfrm>
              <a:off x="0" y="0"/>
              <a:ext cx="1257251" cy="728274"/>
            </a:xfrm>
            <a:custGeom>
              <a:avLst/>
              <a:gdLst/>
              <a:ahLst/>
              <a:cxnLst/>
              <a:rect l="l" t="t" r="r" b="b"/>
              <a:pathLst>
                <a:path w="1257251" h="728274">
                  <a:moveTo>
                    <a:pt x="36487" y="0"/>
                  </a:moveTo>
                  <a:lnTo>
                    <a:pt x="1220765" y="0"/>
                  </a:lnTo>
                  <a:cubicBezTo>
                    <a:pt x="1240916" y="0"/>
                    <a:pt x="1257251" y="16336"/>
                    <a:pt x="1257251" y="36487"/>
                  </a:cubicBezTo>
                  <a:lnTo>
                    <a:pt x="1257251" y="691788"/>
                  </a:lnTo>
                  <a:cubicBezTo>
                    <a:pt x="1257251" y="711939"/>
                    <a:pt x="1240916" y="728274"/>
                    <a:pt x="1220765" y="728274"/>
                  </a:cubicBezTo>
                  <a:lnTo>
                    <a:pt x="36487" y="728274"/>
                  </a:lnTo>
                  <a:cubicBezTo>
                    <a:pt x="16336" y="728274"/>
                    <a:pt x="0" y="711939"/>
                    <a:pt x="0" y="691788"/>
                  </a:cubicBezTo>
                  <a:lnTo>
                    <a:pt x="0" y="36487"/>
                  </a:lnTo>
                  <a:cubicBezTo>
                    <a:pt x="0" y="16336"/>
                    <a:pt x="16336" y="0"/>
                    <a:pt x="36487" y="0"/>
                  </a:cubicBezTo>
                  <a:close/>
                </a:path>
              </a:pathLst>
            </a:custGeom>
            <a:solidFill>
              <a:srgbClr val="FFFFFF">
                <a:alpha val="15686"/>
              </a:srgbClr>
            </a:solidFill>
          </p:spPr>
        </p:sp>
        <p:sp>
          <p:nvSpPr>
            <p:cNvPr id="26" name="TextBox 26"/>
            <p:cNvSpPr txBox="1"/>
            <p:nvPr/>
          </p:nvSpPr>
          <p:spPr>
            <a:xfrm>
              <a:off x="0" y="-47625"/>
              <a:ext cx="1257251" cy="775899"/>
            </a:xfrm>
            <a:prstGeom prst="rect">
              <a:avLst/>
            </a:prstGeom>
          </p:spPr>
          <p:txBody>
            <a:bodyPr lIns="50800" tIns="50800" rIns="50800" bIns="50800" rtlCol="0" anchor="ctr"/>
            <a:lstStyle/>
            <a:p>
              <a:pPr algn="ctr">
                <a:lnSpc>
                  <a:spcPts val="3146"/>
                </a:lnSpc>
              </a:pPr>
              <a:endParaRPr/>
            </a:p>
          </p:txBody>
        </p:sp>
      </p:grpSp>
      <p:sp>
        <p:nvSpPr>
          <p:cNvPr id="30" name="TextBox 30"/>
          <p:cNvSpPr txBox="1"/>
          <p:nvPr/>
        </p:nvSpPr>
        <p:spPr>
          <a:xfrm>
            <a:off x="11918938" y="4573865"/>
            <a:ext cx="3469178" cy="1614224"/>
          </a:xfrm>
          <a:prstGeom prst="rect">
            <a:avLst/>
          </a:prstGeom>
        </p:spPr>
        <p:txBody>
          <a:bodyPr wrap="square" lIns="0" tIns="0" rIns="0" bIns="0" rtlCol="0" anchor="t">
            <a:spAutoFit/>
          </a:bodyPr>
          <a:lstStyle/>
          <a:p>
            <a:pPr algn="ctr" rtl="1">
              <a:lnSpc>
                <a:spcPts val="3244"/>
              </a:lnSpc>
              <a:spcBef>
                <a:spcPct val="0"/>
              </a:spcBef>
            </a:pPr>
            <a:r>
              <a:rPr lang="ar-EG" sz="2317" b="1" dirty="0">
                <a:solidFill>
                  <a:srgbClr val="FFFFFF"/>
                </a:solidFill>
                <a:latin typeface="B612 Bold"/>
                <a:ea typeface="B612 Bold"/>
                <a:sym typeface="B612 Bold"/>
                <a:rtl/>
              </a:rPr>
              <a:t>تصميم نموذجين للتصنيف: </a:t>
            </a:r>
            <a:endParaRPr lang="ar-SY" sz="2317" b="1" dirty="0">
              <a:solidFill>
                <a:srgbClr val="FFFFFF"/>
              </a:solidFill>
              <a:latin typeface="B612 Bold"/>
              <a:ea typeface="B612 Bold"/>
              <a:sym typeface="B612 Bold"/>
              <a:rtl/>
            </a:endParaRPr>
          </a:p>
          <a:p>
            <a:pPr algn="ctr" rtl="1">
              <a:lnSpc>
                <a:spcPts val="3244"/>
              </a:lnSpc>
              <a:spcBef>
                <a:spcPct val="0"/>
              </a:spcBef>
            </a:pPr>
            <a:r>
              <a:rPr lang="ar-EG" sz="2317" dirty="0">
                <a:solidFill>
                  <a:srgbClr val="FFFFFF"/>
                </a:solidFill>
                <a:latin typeface="B612 Bold"/>
                <a:ea typeface="B612 Bold"/>
                <a:sym typeface="B612 Bold"/>
                <a:rtl/>
              </a:rPr>
              <a:t>الأول يعتمد على بيانات ذات بُعد واحد </a:t>
            </a:r>
            <a:r>
              <a:rPr lang="en-US" sz="2317" dirty="0">
                <a:solidFill>
                  <a:srgbClr val="FFFFFF"/>
                </a:solidFill>
                <a:latin typeface="Abadi" panose="020B0604020104020204" pitchFamily="34" charset="0"/>
                <a:ea typeface="B612 Bold"/>
                <a:sym typeface="B612 Bold"/>
                <a:rtl/>
              </a:rPr>
              <a:t>D</a:t>
            </a:r>
            <a:r>
              <a:rPr lang="ar-SY" sz="2317" dirty="0">
                <a:solidFill>
                  <a:srgbClr val="FFFFFF"/>
                </a:solidFill>
                <a:latin typeface="B612 Bold"/>
                <a:ea typeface="B612 Bold"/>
                <a:sym typeface="B612 Bold"/>
                <a:rtl/>
              </a:rPr>
              <a:t>1</a:t>
            </a:r>
            <a:r>
              <a:rPr lang="en-US" sz="2317" dirty="0">
                <a:solidFill>
                  <a:srgbClr val="FFFFFF"/>
                </a:solidFill>
                <a:latin typeface="B612 Bold"/>
                <a:ea typeface="B612 Bold"/>
                <a:sym typeface="B612 Bold"/>
                <a:rtl/>
              </a:rPr>
              <a:t>،</a:t>
            </a:r>
            <a:endParaRPr lang="ar-SY" sz="2317" dirty="0">
              <a:solidFill>
                <a:srgbClr val="FFFFFF"/>
              </a:solidFill>
              <a:latin typeface="B612 Bold"/>
              <a:ea typeface="B612 Bold"/>
              <a:sym typeface="B612 Bold"/>
              <a:rtl/>
            </a:endParaRPr>
          </a:p>
          <a:p>
            <a:pPr algn="ctr" rtl="1">
              <a:lnSpc>
                <a:spcPts val="3244"/>
              </a:lnSpc>
              <a:spcBef>
                <a:spcPct val="0"/>
              </a:spcBef>
            </a:pPr>
            <a:r>
              <a:rPr lang="ar-EG" sz="2317" dirty="0">
                <a:solidFill>
                  <a:srgbClr val="FFFFFF"/>
                </a:solidFill>
                <a:latin typeface="B612 Bold"/>
                <a:ea typeface="B612 Bold"/>
                <a:sym typeface="B612 Bold"/>
                <a:rtl/>
              </a:rPr>
              <a:t>والثاني على بيانات ذات بُعدين </a:t>
            </a:r>
            <a:r>
              <a:rPr lang="en-US" sz="2317" dirty="0">
                <a:solidFill>
                  <a:srgbClr val="FFFFFF"/>
                </a:solidFill>
                <a:latin typeface="Abadi" panose="020B0604020104020204" pitchFamily="34" charset="0"/>
                <a:ea typeface="B612 Bold"/>
                <a:sym typeface="B612 Bold"/>
                <a:rtl/>
              </a:rPr>
              <a:t>D</a:t>
            </a:r>
            <a:r>
              <a:rPr lang="ar-SY" sz="2317" dirty="0">
                <a:solidFill>
                  <a:srgbClr val="FFFFFF"/>
                </a:solidFill>
                <a:latin typeface="Abadi" panose="020B0604020104020204" pitchFamily="34" charset="0"/>
                <a:ea typeface="B612 Bold"/>
                <a:sym typeface="B612 Bold"/>
                <a:rtl/>
              </a:rPr>
              <a:t>2</a:t>
            </a:r>
            <a:endParaRPr lang="en-US" sz="2317" dirty="0">
              <a:solidFill>
                <a:srgbClr val="FFFFFF"/>
              </a:solidFill>
              <a:latin typeface="Abadi" panose="020B0604020104020204" pitchFamily="34" charset="0"/>
              <a:ea typeface="B612 Bold"/>
              <a:sym typeface="B612 Bold"/>
              <a:rtl/>
            </a:endParaRPr>
          </a:p>
        </p:txBody>
      </p:sp>
      <p:sp>
        <p:nvSpPr>
          <p:cNvPr id="31" name="TextBox 31"/>
          <p:cNvSpPr txBox="1"/>
          <p:nvPr/>
        </p:nvSpPr>
        <p:spPr>
          <a:xfrm>
            <a:off x="7945925" y="4573865"/>
            <a:ext cx="2444059" cy="1614224"/>
          </a:xfrm>
          <a:prstGeom prst="rect">
            <a:avLst/>
          </a:prstGeom>
        </p:spPr>
        <p:txBody>
          <a:bodyPr wrap="square" lIns="0" tIns="0" rIns="0" bIns="0" rtlCol="0" anchor="t">
            <a:spAutoFit/>
          </a:bodyPr>
          <a:lstStyle/>
          <a:p>
            <a:pPr algn="ctr" rtl="1">
              <a:lnSpc>
                <a:spcPts val="3244"/>
              </a:lnSpc>
              <a:spcBef>
                <a:spcPct val="0"/>
              </a:spcBef>
            </a:pPr>
            <a:r>
              <a:rPr lang="ar-EG" sz="2317" dirty="0">
                <a:solidFill>
                  <a:srgbClr val="FFFFFF"/>
                </a:solidFill>
                <a:latin typeface="Microsoft YaHei Light" panose="020B0502040204020203" pitchFamily="34" charset="-122"/>
                <a:ea typeface="Microsoft YaHei Light" panose="020B0502040204020203" pitchFamily="34" charset="-122"/>
                <a:sym typeface="B612 Bold"/>
                <a:rtl/>
              </a:rPr>
              <a:t>تحقيق دقة تصنيف تصل إلى 91% </a:t>
            </a:r>
            <a:r>
              <a:rPr lang="ar-SY" sz="2317" dirty="0">
                <a:solidFill>
                  <a:srgbClr val="FFFFFF"/>
                </a:solidFill>
                <a:latin typeface="Microsoft YaHei Light" panose="020B0502040204020203" pitchFamily="34" charset="-122"/>
                <a:ea typeface="Microsoft YaHei Light" panose="020B0502040204020203" pitchFamily="34" charset="-122"/>
                <a:sym typeface="B612 Bold"/>
                <a:rtl/>
              </a:rPr>
              <a:t>للنموذج </a:t>
            </a:r>
            <a:r>
              <a:rPr lang="en-US" sz="2317" dirty="0">
                <a:solidFill>
                  <a:srgbClr val="FFFFFF"/>
                </a:solidFill>
                <a:latin typeface="Microsoft YaHei Light" panose="020B0502040204020203" pitchFamily="34" charset="-122"/>
                <a:ea typeface="Microsoft YaHei Light" panose="020B0502040204020203" pitchFamily="34" charset="-122"/>
                <a:sym typeface="B612 Bold"/>
                <a:rtl/>
              </a:rPr>
              <a:t>D</a:t>
            </a:r>
            <a:r>
              <a:rPr lang="ar-SY" sz="2317" dirty="0">
                <a:solidFill>
                  <a:srgbClr val="FFFFFF"/>
                </a:solidFill>
                <a:latin typeface="Microsoft YaHei Light" panose="020B0502040204020203" pitchFamily="34" charset="-122"/>
                <a:ea typeface="Microsoft YaHei Light" panose="020B0502040204020203" pitchFamily="34" charset="-122"/>
                <a:sym typeface="B612 Bold"/>
                <a:rtl/>
              </a:rPr>
              <a:t>1</a:t>
            </a:r>
            <a:r>
              <a:rPr lang="en-US" sz="2317" dirty="0">
                <a:solidFill>
                  <a:srgbClr val="FFFFFF"/>
                </a:solidFill>
                <a:latin typeface="Microsoft YaHei Light" panose="020B0502040204020203" pitchFamily="34" charset="-122"/>
                <a:ea typeface="Microsoft YaHei Light" panose="020B0502040204020203" pitchFamily="34" charset="-122"/>
                <a:sym typeface="B612 Bold"/>
                <a:rtl/>
              </a:rPr>
              <a:t> </a:t>
            </a:r>
            <a:endParaRPr lang="ar-SY" sz="2317" dirty="0">
              <a:solidFill>
                <a:srgbClr val="FFFFFF"/>
              </a:solidFill>
              <a:latin typeface="Microsoft YaHei Light" panose="020B0502040204020203" pitchFamily="34" charset="-122"/>
              <a:ea typeface="Microsoft YaHei Light" panose="020B0502040204020203" pitchFamily="34" charset="-122"/>
              <a:sym typeface="B612 Bold"/>
              <a:rtl/>
            </a:endParaRPr>
          </a:p>
          <a:p>
            <a:pPr algn="ctr" rtl="1">
              <a:lnSpc>
                <a:spcPts val="3244"/>
              </a:lnSpc>
              <a:spcBef>
                <a:spcPct val="0"/>
              </a:spcBef>
            </a:pPr>
            <a:r>
              <a:rPr lang="ar-EG" sz="2317" dirty="0">
                <a:solidFill>
                  <a:srgbClr val="FFFFFF"/>
                </a:solidFill>
                <a:latin typeface="B612 Bold"/>
                <a:ea typeface="B612 Bold"/>
                <a:sym typeface="B612 Bold"/>
                <a:rtl/>
              </a:rPr>
              <a:t>و</a:t>
            </a:r>
            <a:endParaRPr lang="ar-SY" sz="2317" dirty="0">
              <a:solidFill>
                <a:srgbClr val="FFFFFF"/>
              </a:solidFill>
              <a:latin typeface="B612 Bold"/>
              <a:ea typeface="B612 Bold"/>
              <a:sym typeface="B612 Bold"/>
              <a:rtl/>
            </a:endParaRPr>
          </a:p>
          <a:p>
            <a:pPr algn="ctr" rtl="1">
              <a:lnSpc>
                <a:spcPts val="3244"/>
              </a:lnSpc>
              <a:spcBef>
                <a:spcPct val="0"/>
              </a:spcBef>
            </a:pPr>
            <a:r>
              <a:rPr lang="ar-EG" sz="2317" dirty="0">
                <a:solidFill>
                  <a:srgbClr val="FFFFFF"/>
                </a:solidFill>
                <a:latin typeface="B612 Bold"/>
                <a:ea typeface="B612 Bold"/>
                <a:sym typeface="B612 Bold"/>
                <a:rtl/>
              </a:rPr>
              <a:t>96</a:t>
            </a:r>
            <a:r>
              <a:rPr lang="ar-SY" sz="2317" dirty="0">
                <a:solidFill>
                  <a:srgbClr val="FFFFFF"/>
                </a:solidFill>
                <a:latin typeface="B612 Bold"/>
                <a:ea typeface="B612 Bold"/>
                <a:sym typeface="B612 Bold"/>
                <a:rtl/>
              </a:rPr>
              <a:t> </a:t>
            </a:r>
            <a:r>
              <a:rPr lang="ar-EG" sz="2317" dirty="0">
                <a:solidFill>
                  <a:srgbClr val="FFFFFF"/>
                </a:solidFill>
                <a:latin typeface="B612 Bold"/>
                <a:ea typeface="B612 Bold"/>
                <a:sym typeface="B612 Bold"/>
                <a:rtl/>
              </a:rPr>
              <a:t>%</a:t>
            </a:r>
            <a:r>
              <a:rPr lang="ar-SY" sz="2317" dirty="0">
                <a:solidFill>
                  <a:srgbClr val="FFFFFF"/>
                </a:solidFill>
                <a:latin typeface="B612 Bold"/>
                <a:ea typeface="B612 Bold"/>
                <a:sym typeface="B612 Bold"/>
                <a:rtl/>
              </a:rPr>
              <a:t> للنموذج</a:t>
            </a:r>
            <a:r>
              <a:rPr lang="ar-EG" sz="2317" dirty="0">
                <a:solidFill>
                  <a:srgbClr val="FFFFFF"/>
                </a:solidFill>
                <a:latin typeface="B612 Bold"/>
                <a:ea typeface="B612 Bold"/>
                <a:sym typeface="B612 Bold"/>
                <a:rtl/>
              </a:rPr>
              <a:t> </a:t>
            </a:r>
            <a:r>
              <a:rPr lang="en-US" sz="2317" dirty="0">
                <a:solidFill>
                  <a:srgbClr val="FFFFFF"/>
                </a:solidFill>
                <a:latin typeface="Abadi" panose="020B0604020104020204" pitchFamily="34" charset="0"/>
                <a:ea typeface="B612 Bold"/>
                <a:sym typeface="B612 Bold"/>
                <a:rtl/>
              </a:rPr>
              <a:t>D</a:t>
            </a:r>
            <a:r>
              <a:rPr lang="ar-SY" sz="2317" dirty="0">
                <a:solidFill>
                  <a:srgbClr val="FFFFFF"/>
                </a:solidFill>
                <a:latin typeface="Abadi" panose="020B0604020104020204" pitchFamily="34" charset="0"/>
                <a:ea typeface="B612 Bold"/>
                <a:sym typeface="B612 Bold"/>
                <a:rtl/>
              </a:rPr>
              <a:t>2</a:t>
            </a:r>
            <a:endParaRPr lang="en-US" sz="2317" dirty="0">
              <a:solidFill>
                <a:srgbClr val="FFFFFF"/>
              </a:solidFill>
              <a:latin typeface="Abadi" panose="020B0604020104020204" pitchFamily="34" charset="0"/>
              <a:ea typeface="B612 Bold"/>
              <a:sym typeface="B612 Bold"/>
              <a:rtl/>
            </a:endParaRPr>
          </a:p>
        </p:txBody>
      </p:sp>
      <p:sp>
        <p:nvSpPr>
          <p:cNvPr id="32" name="TextBox 32"/>
          <p:cNvSpPr txBox="1"/>
          <p:nvPr/>
        </p:nvSpPr>
        <p:spPr>
          <a:xfrm>
            <a:off x="3145541" y="4573865"/>
            <a:ext cx="2942649" cy="2038443"/>
          </a:xfrm>
          <a:prstGeom prst="rect">
            <a:avLst/>
          </a:prstGeom>
        </p:spPr>
        <p:txBody>
          <a:bodyPr wrap="square" lIns="0" tIns="0" rIns="0" bIns="0" rtlCol="0" anchor="t">
            <a:spAutoFit/>
          </a:bodyPr>
          <a:lstStyle/>
          <a:p>
            <a:pPr algn="ctr" rtl="1">
              <a:lnSpc>
                <a:spcPts val="3244"/>
              </a:lnSpc>
              <a:spcBef>
                <a:spcPct val="0"/>
              </a:spcBef>
            </a:pPr>
            <a:r>
              <a:rPr lang="ar-EG" sz="2317" dirty="0">
                <a:solidFill>
                  <a:srgbClr val="FFFFFF"/>
                </a:solidFill>
                <a:latin typeface="B612 Bold"/>
                <a:ea typeface="B612 Bold"/>
                <a:sym typeface="B612 Bold"/>
                <a:rtl/>
              </a:rPr>
              <a:t>حل مشكلة الإفراط في التدريب</a:t>
            </a:r>
            <a:r>
              <a:rPr lang="en-US" sz="2317" dirty="0">
                <a:solidFill>
                  <a:srgbClr val="FFFFFF"/>
                </a:solidFill>
                <a:latin typeface="Microsoft YaHei Light" panose="020B0502040204020203" pitchFamily="34" charset="-122"/>
                <a:ea typeface="Microsoft YaHei Light" panose="020B0502040204020203" pitchFamily="34" charset="-122"/>
                <a:sym typeface="B612 Bold"/>
                <a:rtl/>
              </a:rPr>
              <a:t>Overfitting</a:t>
            </a:r>
            <a:r>
              <a:rPr lang="en-US" sz="2317" dirty="0">
                <a:solidFill>
                  <a:srgbClr val="FFFFFF"/>
                </a:solidFill>
                <a:latin typeface="B612 Bold"/>
                <a:ea typeface="B612 Bold"/>
                <a:sym typeface="B612 Bold"/>
                <a:rtl/>
              </a:rPr>
              <a:t> </a:t>
            </a:r>
            <a:r>
              <a:rPr lang="ar-EG" sz="2317" dirty="0">
                <a:solidFill>
                  <a:srgbClr val="FFFFFF"/>
                </a:solidFill>
                <a:latin typeface="B612 Bold"/>
                <a:ea typeface="B612 Bold"/>
                <a:sym typeface="B612 Bold"/>
                <a:rtl/>
              </a:rPr>
              <a:t>باستخدام تقنيات مثل </a:t>
            </a:r>
            <a:endParaRPr lang="ar-SY" sz="2317" dirty="0">
              <a:solidFill>
                <a:srgbClr val="FFFFFF"/>
              </a:solidFill>
              <a:latin typeface="B612 Bold"/>
              <a:ea typeface="B612 Bold"/>
              <a:sym typeface="B612 Bold"/>
              <a:rtl/>
            </a:endParaRPr>
          </a:p>
          <a:p>
            <a:pPr algn="ctr" rtl="1">
              <a:lnSpc>
                <a:spcPts val="3244"/>
              </a:lnSpc>
              <a:spcBef>
                <a:spcPct val="0"/>
              </a:spcBef>
            </a:pPr>
            <a:r>
              <a:rPr lang="en-US" sz="2317" dirty="0">
                <a:solidFill>
                  <a:srgbClr val="FFFFFF"/>
                </a:solidFill>
                <a:latin typeface="Microsoft YaHei Light" panose="020B0502040204020203" pitchFamily="34" charset="-122"/>
                <a:ea typeface="Microsoft YaHei Light" panose="020B0502040204020203" pitchFamily="34" charset="-122"/>
                <a:sym typeface="B612 Bold"/>
                <a:rtl/>
              </a:rPr>
              <a:t>Data</a:t>
            </a:r>
            <a:endParaRPr lang="ar-SY" sz="2317" dirty="0">
              <a:solidFill>
                <a:srgbClr val="FFFFFF"/>
              </a:solidFill>
              <a:latin typeface="Microsoft YaHei Light" panose="020B0502040204020203" pitchFamily="34" charset="-122"/>
              <a:ea typeface="Microsoft YaHei Light" panose="020B0502040204020203" pitchFamily="34" charset="-122"/>
              <a:sym typeface="B612 Bold"/>
              <a:rtl/>
            </a:endParaRPr>
          </a:p>
          <a:p>
            <a:pPr algn="ctr" rtl="1">
              <a:lnSpc>
                <a:spcPts val="3244"/>
              </a:lnSpc>
              <a:spcBef>
                <a:spcPct val="0"/>
              </a:spcBef>
            </a:pPr>
            <a:r>
              <a:rPr lang="en-US" sz="2317" dirty="0">
                <a:solidFill>
                  <a:srgbClr val="FFFFFF"/>
                </a:solidFill>
                <a:latin typeface="B612 Bold"/>
                <a:ea typeface="B612 Bold"/>
                <a:sym typeface="B612 Bold"/>
                <a:rtl/>
              </a:rPr>
              <a:t> </a:t>
            </a:r>
            <a:r>
              <a:rPr lang="en-US" sz="2317" dirty="0">
                <a:solidFill>
                  <a:srgbClr val="FFFFFF"/>
                </a:solidFill>
                <a:latin typeface="Microsoft YaHei Light" panose="020B0502040204020203" pitchFamily="34" charset="-122"/>
                <a:ea typeface="Microsoft YaHei Light" panose="020B0502040204020203" pitchFamily="34" charset="-122"/>
                <a:sym typeface="B612 Bold"/>
                <a:rtl/>
              </a:rPr>
              <a:t>Augmentation.</a:t>
            </a:r>
          </a:p>
        </p:txBody>
      </p:sp>
      <p:pic>
        <p:nvPicPr>
          <p:cNvPr id="28" name="Picture Placeholder 37">
            <a:extLst>
              <a:ext uri="{FF2B5EF4-FFF2-40B4-BE49-F238E27FC236}">
                <a16:creationId xmlns:a16="http://schemas.microsoft.com/office/drawing/2014/main" id="{4162880A-4A88-ED9F-357E-65638ED8BB0C}"/>
              </a:ext>
            </a:extLst>
          </p:cNvPr>
          <p:cNvPicPr>
            <a:picLocks noGrp="1" noChangeAspect="1"/>
          </p:cNvPicPr>
          <p:nvPr/>
        </p:nvPicPr>
        <p:blipFill>
          <a:blip r:embed="rId3"/>
          <a:srcRect/>
          <a:stretch/>
        </p:blipFill>
        <p:spPr>
          <a:xfrm>
            <a:off x="12120426" y="278984"/>
            <a:ext cx="4528282" cy="2832582"/>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762" y="2381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grpSp>
        <p:nvGrpSpPr>
          <p:cNvPr id="7" name="Group 7"/>
          <p:cNvGrpSpPr/>
          <p:nvPr/>
        </p:nvGrpSpPr>
        <p:grpSpPr>
          <a:xfrm>
            <a:off x="12000638" y="4062139"/>
            <a:ext cx="4868965" cy="4848526"/>
            <a:chOff x="0" y="0"/>
            <a:chExt cx="1303774" cy="1242800"/>
          </a:xfrm>
        </p:grpSpPr>
        <p:sp>
          <p:nvSpPr>
            <p:cNvPr id="8" name="Freeform 8"/>
            <p:cNvSpPr/>
            <p:nvPr/>
          </p:nvSpPr>
          <p:spPr>
            <a:xfrm>
              <a:off x="0" y="0"/>
              <a:ext cx="1303774" cy="1242800"/>
            </a:xfrm>
            <a:custGeom>
              <a:avLst/>
              <a:gdLst/>
              <a:ahLst/>
              <a:cxnLst/>
              <a:rect l="l" t="t" r="r" b="b"/>
              <a:pathLst>
                <a:path w="1303774" h="1242800">
                  <a:moveTo>
                    <a:pt x="30866" y="0"/>
                  </a:moveTo>
                  <a:lnTo>
                    <a:pt x="1272909" y="0"/>
                  </a:lnTo>
                  <a:cubicBezTo>
                    <a:pt x="1281095" y="0"/>
                    <a:pt x="1288945" y="3252"/>
                    <a:pt x="1294734" y="9040"/>
                  </a:cubicBezTo>
                  <a:cubicBezTo>
                    <a:pt x="1300522" y="14829"/>
                    <a:pt x="1303774" y="22680"/>
                    <a:pt x="1303774" y="30866"/>
                  </a:cubicBezTo>
                  <a:lnTo>
                    <a:pt x="1303774" y="1211935"/>
                  </a:lnTo>
                  <a:cubicBezTo>
                    <a:pt x="1303774" y="1220121"/>
                    <a:pt x="1300522" y="1227971"/>
                    <a:pt x="1294734" y="1233760"/>
                  </a:cubicBezTo>
                  <a:cubicBezTo>
                    <a:pt x="1288945" y="1239548"/>
                    <a:pt x="1281095" y="1242800"/>
                    <a:pt x="1272909" y="1242800"/>
                  </a:cubicBezTo>
                  <a:lnTo>
                    <a:pt x="30866" y="1242800"/>
                  </a:lnTo>
                  <a:cubicBezTo>
                    <a:pt x="13819" y="1242800"/>
                    <a:pt x="0" y="1228981"/>
                    <a:pt x="0" y="1211935"/>
                  </a:cubicBezTo>
                  <a:lnTo>
                    <a:pt x="0" y="30866"/>
                  </a:lnTo>
                  <a:cubicBezTo>
                    <a:pt x="0" y="22680"/>
                    <a:pt x="3252" y="14829"/>
                    <a:pt x="9040" y="9040"/>
                  </a:cubicBezTo>
                  <a:cubicBezTo>
                    <a:pt x="14829" y="3252"/>
                    <a:pt x="22680" y="0"/>
                    <a:pt x="30866" y="0"/>
                  </a:cubicBezTo>
                  <a:close/>
                </a:path>
              </a:pathLst>
            </a:custGeom>
            <a:solidFill>
              <a:srgbClr val="FFFFFF">
                <a:alpha val="15686"/>
              </a:srgbClr>
            </a:solidFill>
            <a:ln cap="sq">
              <a:noFill/>
              <a:prstDash val="solid"/>
              <a:miter/>
            </a:ln>
          </p:spPr>
        </p:sp>
        <p:sp>
          <p:nvSpPr>
            <p:cNvPr id="9" name="TextBox 9"/>
            <p:cNvSpPr txBox="1"/>
            <p:nvPr/>
          </p:nvSpPr>
          <p:spPr>
            <a:xfrm>
              <a:off x="0" y="-47625"/>
              <a:ext cx="1303774" cy="1290425"/>
            </a:xfrm>
            <a:prstGeom prst="rect">
              <a:avLst/>
            </a:prstGeom>
          </p:spPr>
          <p:txBody>
            <a:bodyPr lIns="50800" tIns="50800" rIns="50800" bIns="50800" rtlCol="0" anchor="ctr"/>
            <a:lstStyle/>
            <a:p>
              <a:pPr algn="ctr">
                <a:lnSpc>
                  <a:spcPts val="3146"/>
                </a:lnSpc>
              </a:pPr>
              <a:endParaRPr/>
            </a:p>
          </p:txBody>
        </p:sp>
      </p:grpSp>
      <p:grpSp>
        <p:nvGrpSpPr>
          <p:cNvPr id="10" name="Group 10"/>
          <p:cNvGrpSpPr/>
          <p:nvPr/>
        </p:nvGrpSpPr>
        <p:grpSpPr>
          <a:xfrm>
            <a:off x="7011979" y="4075009"/>
            <a:ext cx="4264042" cy="4454595"/>
            <a:chOff x="0" y="0"/>
            <a:chExt cx="1303774" cy="1242800"/>
          </a:xfrm>
        </p:grpSpPr>
        <p:sp>
          <p:nvSpPr>
            <p:cNvPr id="11" name="Freeform 11"/>
            <p:cNvSpPr/>
            <p:nvPr/>
          </p:nvSpPr>
          <p:spPr>
            <a:xfrm>
              <a:off x="0" y="0"/>
              <a:ext cx="1303774" cy="1242800"/>
            </a:xfrm>
            <a:custGeom>
              <a:avLst/>
              <a:gdLst/>
              <a:ahLst/>
              <a:cxnLst/>
              <a:rect l="l" t="t" r="r" b="b"/>
              <a:pathLst>
                <a:path w="1303774" h="1242800">
                  <a:moveTo>
                    <a:pt x="30866" y="0"/>
                  </a:moveTo>
                  <a:lnTo>
                    <a:pt x="1272909" y="0"/>
                  </a:lnTo>
                  <a:cubicBezTo>
                    <a:pt x="1281095" y="0"/>
                    <a:pt x="1288945" y="3252"/>
                    <a:pt x="1294734" y="9040"/>
                  </a:cubicBezTo>
                  <a:cubicBezTo>
                    <a:pt x="1300522" y="14829"/>
                    <a:pt x="1303774" y="22680"/>
                    <a:pt x="1303774" y="30866"/>
                  </a:cubicBezTo>
                  <a:lnTo>
                    <a:pt x="1303774" y="1211935"/>
                  </a:lnTo>
                  <a:cubicBezTo>
                    <a:pt x="1303774" y="1220121"/>
                    <a:pt x="1300522" y="1227971"/>
                    <a:pt x="1294734" y="1233760"/>
                  </a:cubicBezTo>
                  <a:cubicBezTo>
                    <a:pt x="1288945" y="1239548"/>
                    <a:pt x="1281095" y="1242800"/>
                    <a:pt x="1272909" y="1242800"/>
                  </a:cubicBezTo>
                  <a:lnTo>
                    <a:pt x="30866" y="1242800"/>
                  </a:lnTo>
                  <a:cubicBezTo>
                    <a:pt x="13819" y="1242800"/>
                    <a:pt x="0" y="1228981"/>
                    <a:pt x="0" y="1211935"/>
                  </a:cubicBezTo>
                  <a:lnTo>
                    <a:pt x="0" y="30866"/>
                  </a:lnTo>
                  <a:cubicBezTo>
                    <a:pt x="0" y="22680"/>
                    <a:pt x="3252" y="14829"/>
                    <a:pt x="9040" y="9040"/>
                  </a:cubicBezTo>
                  <a:cubicBezTo>
                    <a:pt x="14829" y="3252"/>
                    <a:pt x="22680" y="0"/>
                    <a:pt x="30866" y="0"/>
                  </a:cubicBezTo>
                  <a:close/>
                </a:path>
              </a:pathLst>
            </a:custGeom>
            <a:solidFill>
              <a:srgbClr val="FFFFFF">
                <a:alpha val="15686"/>
              </a:srgbClr>
            </a:solidFill>
            <a:ln cap="sq">
              <a:noFill/>
              <a:prstDash val="solid"/>
              <a:miter/>
            </a:ln>
          </p:spPr>
        </p:sp>
        <p:sp>
          <p:nvSpPr>
            <p:cNvPr id="12" name="TextBox 12"/>
            <p:cNvSpPr txBox="1"/>
            <p:nvPr/>
          </p:nvSpPr>
          <p:spPr>
            <a:xfrm>
              <a:off x="0" y="-47625"/>
              <a:ext cx="1303774" cy="1290425"/>
            </a:xfrm>
            <a:prstGeom prst="rect">
              <a:avLst/>
            </a:prstGeom>
          </p:spPr>
          <p:txBody>
            <a:bodyPr lIns="50800" tIns="50800" rIns="50800" bIns="50800" rtlCol="0" anchor="ctr"/>
            <a:lstStyle/>
            <a:p>
              <a:pPr algn="ctr">
                <a:lnSpc>
                  <a:spcPts val="3146"/>
                </a:lnSpc>
              </a:pPr>
              <a:endParaRPr/>
            </a:p>
          </p:txBody>
        </p:sp>
      </p:grpSp>
      <p:grpSp>
        <p:nvGrpSpPr>
          <p:cNvPr id="13" name="Group 13"/>
          <p:cNvGrpSpPr/>
          <p:nvPr/>
        </p:nvGrpSpPr>
        <p:grpSpPr>
          <a:xfrm>
            <a:off x="2024037" y="4062139"/>
            <a:ext cx="4264042" cy="4064624"/>
            <a:chOff x="0" y="0"/>
            <a:chExt cx="1303774" cy="1242800"/>
          </a:xfrm>
        </p:grpSpPr>
        <p:sp>
          <p:nvSpPr>
            <p:cNvPr id="14" name="Freeform 14"/>
            <p:cNvSpPr/>
            <p:nvPr/>
          </p:nvSpPr>
          <p:spPr>
            <a:xfrm>
              <a:off x="0" y="0"/>
              <a:ext cx="1303774" cy="1242800"/>
            </a:xfrm>
            <a:custGeom>
              <a:avLst/>
              <a:gdLst/>
              <a:ahLst/>
              <a:cxnLst/>
              <a:rect l="l" t="t" r="r" b="b"/>
              <a:pathLst>
                <a:path w="1303774" h="1242800">
                  <a:moveTo>
                    <a:pt x="30866" y="0"/>
                  </a:moveTo>
                  <a:lnTo>
                    <a:pt x="1272909" y="0"/>
                  </a:lnTo>
                  <a:cubicBezTo>
                    <a:pt x="1281095" y="0"/>
                    <a:pt x="1288945" y="3252"/>
                    <a:pt x="1294734" y="9040"/>
                  </a:cubicBezTo>
                  <a:cubicBezTo>
                    <a:pt x="1300522" y="14829"/>
                    <a:pt x="1303774" y="22680"/>
                    <a:pt x="1303774" y="30866"/>
                  </a:cubicBezTo>
                  <a:lnTo>
                    <a:pt x="1303774" y="1211935"/>
                  </a:lnTo>
                  <a:cubicBezTo>
                    <a:pt x="1303774" y="1220121"/>
                    <a:pt x="1300522" y="1227971"/>
                    <a:pt x="1294734" y="1233760"/>
                  </a:cubicBezTo>
                  <a:cubicBezTo>
                    <a:pt x="1288945" y="1239548"/>
                    <a:pt x="1281095" y="1242800"/>
                    <a:pt x="1272909" y="1242800"/>
                  </a:cubicBezTo>
                  <a:lnTo>
                    <a:pt x="30866" y="1242800"/>
                  </a:lnTo>
                  <a:cubicBezTo>
                    <a:pt x="13819" y="1242800"/>
                    <a:pt x="0" y="1228981"/>
                    <a:pt x="0" y="1211935"/>
                  </a:cubicBezTo>
                  <a:lnTo>
                    <a:pt x="0" y="30866"/>
                  </a:lnTo>
                  <a:cubicBezTo>
                    <a:pt x="0" y="22680"/>
                    <a:pt x="3252" y="14829"/>
                    <a:pt x="9040" y="9040"/>
                  </a:cubicBezTo>
                  <a:cubicBezTo>
                    <a:pt x="14829" y="3252"/>
                    <a:pt x="22680" y="0"/>
                    <a:pt x="30866" y="0"/>
                  </a:cubicBezTo>
                  <a:close/>
                </a:path>
              </a:pathLst>
            </a:custGeom>
            <a:solidFill>
              <a:srgbClr val="FFFFFF">
                <a:alpha val="15686"/>
              </a:srgbClr>
            </a:solidFill>
            <a:ln cap="sq">
              <a:noFill/>
              <a:prstDash val="solid"/>
              <a:miter/>
            </a:ln>
          </p:spPr>
        </p:sp>
        <p:sp>
          <p:nvSpPr>
            <p:cNvPr id="15" name="TextBox 15"/>
            <p:cNvSpPr txBox="1"/>
            <p:nvPr/>
          </p:nvSpPr>
          <p:spPr>
            <a:xfrm>
              <a:off x="0" y="-47625"/>
              <a:ext cx="1303774" cy="1290425"/>
            </a:xfrm>
            <a:prstGeom prst="rect">
              <a:avLst/>
            </a:prstGeom>
          </p:spPr>
          <p:txBody>
            <a:bodyPr lIns="50800" tIns="50800" rIns="50800" bIns="50800" rtlCol="0" anchor="ctr"/>
            <a:lstStyle/>
            <a:p>
              <a:pPr algn="ctr">
                <a:lnSpc>
                  <a:spcPts val="3146"/>
                </a:lnSpc>
              </a:pPr>
              <a:endParaRPr/>
            </a:p>
          </p:txBody>
        </p:sp>
      </p:grpSp>
      <p:sp>
        <p:nvSpPr>
          <p:cNvPr id="22" name="TextBox 22"/>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MMCS</a:t>
            </a:r>
          </a:p>
        </p:txBody>
      </p:sp>
      <p:sp>
        <p:nvSpPr>
          <p:cNvPr id="25" name="TextBox 25"/>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Page 5</a:t>
            </a:r>
          </a:p>
        </p:txBody>
      </p:sp>
      <p:sp>
        <p:nvSpPr>
          <p:cNvPr id="26" name="TextBox 26"/>
          <p:cNvSpPr txBox="1"/>
          <p:nvPr/>
        </p:nvSpPr>
        <p:spPr>
          <a:xfrm>
            <a:off x="11841060" y="5955192"/>
            <a:ext cx="4952760" cy="2733825"/>
          </a:xfrm>
          <a:prstGeom prst="rect">
            <a:avLst/>
          </a:prstGeom>
        </p:spPr>
        <p:txBody>
          <a:bodyPr wrap="square" lIns="0" tIns="0" rIns="0" bIns="0" rtlCol="0" anchor="t">
            <a:spAutoFit/>
          </a:bodyPr>
          <a:lstStyle/>
          <a:p>
            <a:pPr marL="342900" indent="-342900" algn="r" rtl="1">
              <a:lnSpc>
                <a:spcPts val="3636"/>
              </a:lnSpc>
              <a:buFont typeface="Wingdings" panose="05000000000000000000" pitchFamily="2" charset="2"/>
              <a:buChar char="ü"/>
            </a:pPr>
            <a:r>
              <a:rPr lang="ar-EG" sz="2066" dirty="0">
                <a:solidFill>
                  <a:srgbClr val="FFFFFF"/>
                </a:solidFill>
                <a:latin typeface="Microsoft YaHei Light" panose="020B0502040204020203" pitchFamily="34" charset="-122"/>
                <a:ea typeface="Microsoft YaHei Light" panose="020B0502040204020203" pitchFamily="34" charset="-122"/>
                <a:cs typeface="+mj-cs"/>
                <a:sym typeface="B612"/>
                <a:rtl/>
              </a:rPr>
              <a:t>معالجة الصوت: </a:t>
            </a:r>
            <a:r>
              <a:rPr lang="en-US" sz="2066" dirty="0">
                <a:solidFill>
                  <a:srgbClr val="FFFFFF"/>
                </a:solidFill>
                <a:latin typeface="Microsoft YaHei Light" panose="020B0502040204020203" pitchFamily="34" charset="-122"/>
                <a:ea typeface="Microsoft YaHei Light" panose="020B0502040204020203" pitchFamily="34" charset="-122"/>
                <a:cs typeface="+mj-cs"/>
                <a:sym typeface="B612"/>
                <a:rtl/>
              </a:rPr>
              <a:t>Pydub, Ipython</a:t>
            </a:r>
          </a:p>
          <a:p>
            <a:pPr marL="342900" indent="-342900" algn="r" rtl="1">
              <a:lnSpc>
                <a:spcPts val="3636"/>
              </a:lnSpc>
              <a:buFont typeface="Wingdings" panose="05000000000000000000" pitchFamily="2" charset="2"/>
              <a:buChar char="ü"/>
            </a:pPr>
            <a:r>
              <a:rPr lang="ar-EG" sz="2066" dirty="0">
                <a:solidFill>
                  <a:srgbClr val="FFFFFF"/>
                </a:solidFill>
                <a:latin typeface="Microsoft YaHei Light" panose="020B0502040204020203" pitchFamily="34" charset="-122"/>
                <a:ea typeface="Microsoft YaHei Light" panose="020B0502040204020203" pitchFamily="34" charset="-122"/>
                <a:cs typeface="+mj-cs"/>
                <a:sym typeface="B612"/>
                <a:rtl/>
              </a:rPr>
              <a:t>استخراج الخصائص: </a:t>
            </a:r>
            <a:r>
              <a:rPr lang="en-US" sz="2066" dirty="0">
                <a:solidFill>
                  <a:srgbClr val="FFFFFF"/>
                </a:solidFill>
                <a:latin typeface="Microsoft YaHei Light" panose="020B0502040204020203" pitchFamily="34" charset="-122"/>
                <a:ea typeface="Microsoft YaHei Light" panose="020B0502040204020203" pitchFamily="34" charset="-122"/>
                <a:cs typeface="+mj-cs"/>
                <a:sym typeface="B612"/>
                <a:rtl/>
              </a:rPr>
              <a:t>Librosa</a:t>
            </a:r>
          </a:p>
          <a:p>
            <a:pPr marL="342900" indent="-342900" algn="r" rtl="1">
              <a:lnSpc>
                <a:spcPts val="3636"/>
              </a:lnSpc>
              <a:buFont typeface="Wingdings" panose="05000000000000000000" pitchFamily="2" charset="2"/>
              <a:buChar char="ü"/>
            </a:pPr>
            <a:r>
              <a:rPr lang="ar-EG" sz="2066" dirty="0">
                <a:solidFill>
                  <a:srgbClr val="FFFFFF"/>
                </a:solidFill>
                <a:latin typeface="Microsoft YaHei Light" panose="020B0502040204020203" pitchFamily="34" charset="-122"/>
                <a:ea typeface="Microsoft YaHei Light" panose="020B0502040204020203" pitchFamily="34" charset="-122"/>
                <a:cs typeface="+mj-cs"/>
                <a:sym typeface="B612"/>
                <a:rtl/>
              </a:rPr>
              <a:t>معالجة البيانات: </a:t>
            </a:r>
            <a:r>
              <a:rPr lang="en-US" sz="2066" dirty="0">
                <a:solidFill>
                  <a:srgbClr val="FFFFFF"/>
                </a:solidFill>
                <a:latin typeface="Microsoft YaHei Light" panose="020B0502040204020203" pitchFamily="34" charset="-122"/>
                <a:ea typeface="Microsoft YaHei Light" panose="020B0502040204020203" pitchFamily="34" charset="-122"/>
                <a:cs typeface="+mj-cs"/>
                <a:sym typeface="B612"/>
                <a:rtl/>
              </a:rPr>
              <a:t>Numpy, Pandas, Sklearn</a:t>
            </a:r>
          </a:p>
          <a:p>
            <a:pPr marL="342900" indent="-342900" algn="r" rtl="1">
              <a:lnSpc>
                <a:spcPts val="3636"/>
              </a:lnSpc>
              <a:buFont typeface="Wingdings" panose="05000000000000000000" pitchFamily="2" charset="2"/>
              <a:buChar char="ü"/>
            </a:pPr>
            <a:r>
              <a:rPr lang="ar-EG" sz="2066" dirty="0">
                <a:solidFill>
                  <a:srgbClr val="FFFFFF"/>
                </a:solidFill>
                <a:latin typeface="Microsoft YaHei Light" panose="020B0502040204020203" pitchFamily="34" charset="-122"/>
                <a:ea typeface="Microsoft YaHei Light" panose="020B0502040204020203" pitchFamily="34" charset="-122"/>
                <a:cs typeface="+mj-cs"/>
                <a:sym typeface="B612"/>
                <a:rtl/>
              </a:rPr>
              <a:t>التصنيف: </a:t>
            </a:r>
            <a:r>
              <a:rPr lang="en-US" sz="2066" dirty="0">
                <a:solidFill>
                  <a:srgbClr val="FFFFFF"/>
                </a:solidFill>
                <a:latin typeface="Microsoft YaHei Light" panose="020B0502040204020203" pitchFamily="34" charset="-122"/>
                <a:ea typeface="Microsoft YaHei Light" panose="020B0502040204020203" pitchFamily="34" charset="-122"/>
                <a:cs typeface="+mj-cs"/>
                <a:sym typeface="B612"/>
                <a:rtl/>
              </a:rPr>
              <a:t>TensorFlow</a:t>
            </a:r>
          </a:p>
          <a:p>
            <a:pPr marL="342900" indent="-342900" algn="r" rtl="1">
              <a:lnSpc>
                <a:spcPts val="3636"/>
              </a:lnSpc>
              <a:buFont typeface="Wingdings" panose="05000000000000000000" pitchFamily="2" charset="2"/>
              <a:buChar char="ü"/>
            </a:pPr>
            <a:r>
              <a:rPr lang="ar-EG" sz="2066" dirty="0">
                <a:solidFill>
                  <a:srgbClr val="FFFFFF"/>
                </a:solidFill>
                <a:latin typeface="Microsoft YaHei Light" panose="020B0502040204020203" pitchFamily="34" charset="-122"/>
                <a:ea typeface="Microsoft YaHei Light" panose="020B0502040204020203" pitchFamily="34" charset="-122"/>
                <a:cs typeface="+mj-cs"/>
                <a:sym typeface="B612"/>
                <a:rtl/>
              </a:rPr>
              <a:t>تقييم النموذج: </a:t>
            </a:r>
            <a:r>
              <a:rPr lang="en-US" sz="2066" dirty="0">
                <a:solidFill>
                  <a:srgbClr val="FFFFFF"/>
                </a:solidFill>
                <a:latin typeface="Microsoft YaHei Light" panose="020B0502040204020203" pitchFamily="34" charset="-122"/>
                <a:ea typeface="Microsoft YaHei Light" panose="020B0502040204020203" pitchFamily="34" charset="-122"/>
                <a:cs typeface="+mj-cs"/>
                <a:sym typeface="B612"/>
                <a:rtl/>
              </a:rPr>
              <a:t>Matplotlib</a:t>
            </a:r>
          </a:p>
          <a:p>
            <a:pPr marL="342900" indent="-342900" algn="r" rtl="1">
              <a:lnSpc>
                <a:spcPts val="3636"/>
              </a:lnSpc>
              <a:buFont typeface="Wingdings" panose="05000000000000000000" pitchFamily="2" charset="2"/>
              <a:buChar char="ü"/>
            </a:pPr>
            <a:r>
              <a:rPr lang="ar-EG" sz="2066" dirty="0">
                <a:solidFill>
                  <a:srgbClr val="FFFFFF"/>
                </a:solidFill>
                <a:latin typeface="Microsoft YaHei Light" panose="020B0502040204020203" pitchFamily="34" charset="-122"/>
                <a:ea typeface="Microsoft YaHei Light" panose="020B0502040204020203" pitchFamily="34" charset="-122"/>
                <a:cs typeface="+mj-cs"/>
                <a:sym typeface="B612"/>
                <a:rtl/>
              </a:rPr>
              <a:t>تطوير الواجهة: </a:t>
            </a:r>
            <a:r>
              <a:rPr lang="en-US" sz="2066" dirty="0">
                <a:solidFill>
                  <a:srgbClr val="FFFFFF"/>
                </a:solidFill>
                <a:latin typeface="Microsoft YaHei Light" panose="020B0502040204020203" pitchFamily="34" charset="-122"/>
                <a:ea typeface="Microsoft YaHei Light" panose="020B0502040204020203" pitchFamily="34" charset="-122"/>
                <a:cs typeface="+mj-cs"/>
                <a:sym typeface="B612"/>
                <a:rtl/>
              </a:rPr>
              <a:t>Django</a:t>
            </a:r>
            <a:endParaRPr lang="ar-EG" sz="2066" dirty="0">
              <a:solidFill>
                <a:srgbClr val="FFFFFF"/>
              </a:solidFill>
              <a:latin typeface="Microsoft YaHei Light" panose="020B0502040204020203" pitchFamily="34" charset="-122"/>
              <a:ea typeface="Microsoft YaHei Light" panose="020B0502040204020203" pitchFamily="34" charset="-122"/>
              <a:cs typeface="+mj-cs"/>
              <a:sym typeface="B612"/>
              <a:rtl/>
            </a:endParaRPr>
          </a:p>
        </p:txBody>
      </p:sp>
      <p:sp>
        <p:nvSpPr>
          <p:cNvPr id="27" name="TextBox 27"/>
          <p:cNvSpPr txBox="1"/>
          <p:nvPr/>
        </p:nvSpPr>
        <p:spPr>
          <a:xfrm>
            <a:off x="7162322" y="6099111"/>
            <a:ext cx="3988025" cy="887422"/>
          </a:xfrm>
          <a:prstGeom prst="rect">
            <a:avLst/>
          </a:prstGeom>
        </p:spPr>
        <p:txBody>
          <a:bodyPr lIns="0" tIns="0" rIns="0" bIns="0" rtlCol="0" anchor="t">
            <a:spAutoFit/>
          </a:bodyPr>
          <a:lstStyle/>
          <a:p>
            <a:pPr algn="ctr" rtl="1">
              <a:lnSpc>
                <a:spcPts val="3636"/>
              </a:lnSpc>
            </a:pPr>
            <a:r>
              <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rPr>
              <a:t>تحليل البيانات الاستكشافي </a:t>
            </a:r>
            <a:endParaRPr lang="ar-SY" sz="2400" dirty="0">
              <a:solidFill>
                <a:srgbClr val="FFFFFF"/>
              </a:solidFill>
              <a:latin typeface="Microsoft YaHei Light" panose="020B0502040204020203" pitchFamily="34" charset="-122"/>
              <a:ea typeface="Microsoft YaHei Light" panose="020B0502040204020203" pitchFamily="34" charset="-122"/>
              <a:cs typeface="+mj-cs"/>
              <a:sym typeface="B612"/>
              <a:rtl/>
            </a:endParaRPr>
          </a:p>
          <a:p>
            <a:pPr algn="ctr" rtl="1">
              <a:lnSpc>
                <a:spcPts val="3636"/>
              </a:lnSpc>
            </a:pPr>
            <a:r>
              <a:rPr lang="en-US" sz="2400" dirty="0">
                <a:solidFill>
                  <a:srgbClr val="FFFFFF"/>
                </a:solidFill>
                <a:latin typeface="Microsoft YaHei Light" panose="020B0502040204020203" pitchFamily="34" charset="-122"/>
                <a:ea typeface="Microsoft YaHei Light" panose="020B0502040204020203" pitchFamily="34" charset="-122"/>
                <a:cs typeface="+mj-cs"/>
                <a:sym typeface="B612"/>
                <a:rtl/>
              </a:rPr>
              <a:t>EDA Tidyverse</a:t>
            </a:r>
          </a:p>
        </p:txBody>
      </p:sp>
      <p:sp>
        <p:nvSpPr>
          <p:cNvPr id="28" name="TextBox 28"/>
          <p:cNvSpPr txBox="1"/>
          <p:nvPr/>
        </p:nvSpPr>
        <p:spPr>
          <a:xfrm>
            <a:off x="2196472" y="6123585"/>
            <a:ext cx="3988025" cy="418384"/>
          </a:xfrm>
          <a:prstGeom prst="rect">
            <a:avLst/>
          </a:prstGeom>
        </p:spPr>
        <p:txBody>
          <a:bodyPr lIns="0" tIns="0" rIns="0" bIns="0" rtlCol="0" anchor="t">
            <a:spAutoFit/>
          </a:bodyPr>
          <a:lstStyle/>
          <a:p>
            <a:pPr algn="ctr" rtl="1">
              <a:lnSpc>
                <a:spcPts val="3636"/>
              </a:lnSpc>
            </a:pPr>
            <a:r>
              <a:rPr lang="ar-EG" sz="2400" dirty="0">
                <a:solidFill>
                  <a:srgbClr val="FFFFFF"/>
                </a:solidFill>
                <a:latin typeface="B612"/>
                <a:ea typeface="B612"/>
                <a:cs typeface="+mj-cs"/>
                <a:sym typeface="B612"/>
                <a:rtl/>
              </a:rPr>
              <a:t>تصميم واجهة المستخدم التفاعلية.</a:t>
            </a:r>
          </a:p>
        </p:txBody>
      </p:sp>
      <p:sp>
        <p:nvSpPr>
          <p:cNvPr id="29" name="TextBox 29"/>
          <p:cNvSpPr txBox="1"/>
          <p:nvPr/>
        </p:nvSpPr>
        <p:spPr>
          <a:xfrm>
            <a:off x="12376046" y="5269472"/>
            <a:ext cx="3513228" cy="415242"/>
          </a:xfrm>
          <a:prstGeom prst="rect">
            <a:avLst/>
          </a:prstGeom>
        </p:spPr>
        <p:txBody>
          <a:bodyPr lIns="0" tIns="0" rIns="0" bIns="0" rtlCol="0" anchor="t">
            <a:spAutoFit/>
          </a:bodyPr>
          <a:lstStyle/>
          <a:p>
            <a:pPr algn="ctr" rtl="1">
              <a:lnSpc>
                <a:spcPts val="3491"/>
              </a:lnSpc>
            </a:pPr>
            <a:r>
              <a:rPr lang="en-US" sz="2494" b="1" dirty="0">
                <a:solidFill>
                  <a:srgbClr val="FFFFFF"/>
                </a:solidFill>
                <a:latin typeface="Microsoft YaHei Light" panose="020B0502040204020203" pitchFamily="34" charset="-122"/>
                <a:ea typeface="Microsoft YaHei Light" panose="020B0502040204020203" pitchFamily="34" charset="-122"/>
                <a:cs typeface="Arial" panose="020B0604020202020204" pitchFamily="34" charset="0"/>
                <a:sym typeface="B612 Bold"/>
                <a:rtl/>
              </a:rPr>
              <a:t>Python</a:t>
            </a:r>
            <a:endParaRPr lang="en-US" sz="2494" b="1" dirty="0">
              <a:solidFill>
                <a:srgbClr val="FFFFFF"/>
              </a:solidFill>
              <a:latin typeface="Microsoft YaHei Light" panose="020B0502040204020203" pitchFamily="34" charset="-122"/>
              <a:ea typeface="Microsoft YaHei Light" panose="020B0502040204020203" pitchFamily="34" charset="-122"/>
              <a:cs typeface="B612 Bold"/>
              <a:sym typeface="B612 Bold"/>
              <a:rtl/>
            </a:endParaRPr>
          </a:p>
        </p:txBody>
      </p:sp>
      <p:sp>
        <p:nvSpPr>
          <p:cNvPr id="30" name="TextBox 30"/>
          <p:cNvSpPr txBox="1"/>
          <p:nvPr/>
        </p:nvSpPr>
        <p:spPr>
          <a:xfrm>
            <a:off x="7387386" y="5269472"/>
            <a:ext cx="3513228" cy="415242"/>
          </a:xfrm>
          <a:prstGeom prst="rect">
            <a:avLst/>
          </a:prstGeom>
        </p:spPr>
        <p:txBody>
          <a:bodyPr lIns="0" tIns="0" rIns="0" bIns="0" rtlCol="0" anchor="t">
            <a:spAutoFit/>
          </a:bodyPr>
          <a:lstStyle/>
          <a:p>
            <a:pPr algn="ctr" rtl="1">
              <a:lnSpc>
                <a:spcPts val="3491"/>
              </a:lnSpc>
            </a:pPr>
            <a:r>
              <a:rPr lang="en-US" sz="2494" b="1" dirty="0">
                <a:solidFill>
                  <a:srgbClr val="FFFFFF"/>
                </a:solidFill>
                <a:latin typeface="Microsoft YaHei Light" panose="020B0502040204020203" pitchFamily="34" charset="-122"/>
                <a:ea typeface="Microsoft YaHei Light" panose="020B0502040204020203" pitchFamily="34" charset="-122"/>
                <a:cs typeface="Arial" panose="020B0604020202020204" pitchFamily="34" charset="0"/>
                <a:sym typeface="B612 Bold"/>
                <a:rtl/>
              </a:rPr>
              <a:t>R Language</a:t>
            </a:r>
          </a:p>
        </p:txBody>
      </p:sp>
      <p:sp>
        <p:nvSpPr>
          <p:cNvPr id="31" name="TextBox 31"/>
          <p:cNvSpPr txBox="1"/>
          <p:nvPr/>
        </p:nvSpPr>
        <p:spPr>
          <a:xfrm>
            <a:off x="2135708" y="5269472"/>
            <a:ext cx="4040699" cy="415242"/>
          </a:xfrm>
          <a:prstGeom prst="rect">
            <a:avLst/>
          </a:prstGeom>
        </p:spPr>
        <p:txBody>
          <a:bodyPr lIns="0" tIns="0" rIns="0" bIns="0" rtlCol="0" anchor="t">
            <a:spAutoFit/>
          </a:bodyPr>
          <a:lstStyle/>
          <a:p>
            <a:pPr algn="ctr" rtl="1">
              <a:lnSpc>
                <a:spcPts val="3491"/>
              </a:lnSpc>
            </a:pPr>
            <a:r>
              <a:rPr lang="en-US" sz="2494" b="1" dirty="0">
                <a:solidFill>
                  <a:srgbClr val="FFFFFF"/>
                </a:solidFill>
                <a:latin typeface="Microsoft YaHei Light" panose="020B0502040204020203" pitchFamily="34" charset="-122"/>
                <a:ea typeface="Microsoft YaHei Light" panose="020B0502040204020203" pitchFamily="34" charset="-122"/>
                <a:cs typeface="B612 Bold"/>
                <a:sym typeface="B612 Bold"/>
                <a:rtl/>
              </a:rPr>
              <a:t>HTML/CSS/JavaScript</a:t>
            </a:r>
          </a:p>
        </p:txBody>
      </p:sp>
      <p:sp>
        <p:nvSpPr>
          <p:cNvPr id="32" name="TextBox 32"/>
          <p:cNvSpPr txBox="1"/>
          <p:nvPr/>
        </p:nvSpPr>
        <p:spPr>
          <a:xfrm>
            <a:off x="5947596" y="1786427"/>
            <a:ext cx="5912514" cy="616900"/>
          </a:xfrm>
          <a:prstGeom prst="rect">
            <a:avLst/>
          </a:prstGeom>
        </p:spPr>
        <p:txBody>
          <a:bodyPr wrap="square" lIns="0" tIns="0" rIns="0" bIns="0" rtlCol="0" anchor="t">
            <a:spAutoFit/>
          </a:bodyPr>
          <a:lstStyle/>
          <a:p>
            <a:pPr algn="ctr" rtl="1">
              <a:lnSpc>
                <a:spcPts val="5163"/>
              </a:lnSpc>
              <a:spcBef>
                <a:spcPct val="0"/>
              </a:spcBef>
            </a:pPr>
            <a:r>
              <a:rPr lang="ar-EG" sz="4000" b="1" dirty="0">
                <a:solidFill>
                  <a:srgbClr val="FFFFFF"/>
                </a:solidFill>
                <a:latin typeface="Arial" panose="020B0604020202020204" pitchFamily="34" charset="0"/>
                <a:ea typeface="B612 Bold"/>
                <a:cs typeface="Arial" panose="020B0604020202020204" pitchFamily="34" charset="0"/>
                <a:sym typeface="B612 Bold"/>
                <a:rtl/>
              </a:rPr>
              <a:t>الأدوات والتكنولوجيا المستخدمة</a:t>
            </a:r>
          </a:p>
        </p:txBody>
      </p:sp>
      <p:sp>
        <p:nvSpPr>
          <p:cNvPr id="34" name="TextBox 11">
            <a:extLst>
              <a:ext uri="{FF2B5EF4-FFF2-40B4-BE49-F238E27FC236}">
                <a16:creationId xmlns:a16="http://schemas.microsoft.com/office/drawing/2014/main" id="{BF905EA6-33F6-482F-BF5C-38FB52855B92}"/>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pic>
        <p:nvPicPr>
          <p:cNvPr id="24" name="صورة 23">
            <a:extLst>
              <a:ext uri="{FF2B5EF4-FFF2-40B4-BE49-F238E27FC236}">
                <a16:creationId xmlns:a16="http://schemas.microsoft.com/office/drawing/2014/main" id="{4153E0B1-AAA0-43FC-B657-A74DE1A1AA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79233" y="2893140"/>
            <a:ext cx="2022332" cy="2022332"/>
          </a:xfrm>
          <a:prstGeom prst="rect">
            <a:avLst/>
          </a:prstGeom>
        </p:spPr>
      </p:pic>
      <p:pic>
        <p:nvPicPr>
          <p:cNvPr id="35" name="صورة 34">
            <a:extLst>
              <a:ext uri="{FF2B5EF4-FFF2-40B4-BE49-F238E27FC236}">
                <a16:creationId xmlns:a16="http://schemas.microsoft.com/office/drawing/2014/main" id="{059F4760-02A3-4978-858A-987B6540C0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99443" y="2939281"/>
            <a:ext cx="3513228" cy="1976191"/>
          </a:xfrm>
          <a:prstGeom prst="rect">
            <a:avLst/>
          </a:prstGeom>
        </p:spPr>
      </p:pic>
      <p:pic>
        <p:nvPicPr>
          <p:cNvPr id="37" name="صورة 36">
            <a:extLst>
              <a:ext uri="{FF2B5EF4-FFF2-40B4-BE49-F238E27FC236}">
                <a16:creationId xmlns:a16="http://schemas.microsoft.com/office/drawing/2014/main" id="{331E9437-635D-422B-A964-801E1DD88B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7187" y="2824580"/>
            <a:ext cx="2758294" cy="213564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grpSp>
        <p:nvGrpSpPr>
          <p:cNvPr id="7" name="Group 7"/>
          <p:cNvGrpSpPr/>
          <p:nvPr/>
        </p:nvGrpSpPr>
        <p:grpSpPr>
          <a:xfrm>
            <a:off x="1912730" y="3031972"/>
            <a:ext cx="13015978" cy="2470040"/>
            <a:chOff x="0" y="0"/>
            <a:chExt cx="3979768" cy="733084"/>
          </a:xfrm>
        </p:grpSpPr>
        <p:sp>
          <p:nvSpPr>
            <p:cNvPr id="8" name="Freeform 8"/>
            <p:cNvSpPr/>
            <p:nvPr/>
          </p:nvSpPr>
          <p:spPr>
            <a:xfrm>
              <a:off x="0" y="0"/>
              <a:ext cx="3979768" cy="733084"/>
            </a:xfrm>
            <a:custGeom>
              <a:avLst/>
              <a:gdLst/>
              <a:ahLst/>
              <a:cxnLst/>
              <a:rect l="l" t="t" r="r" b="b"/>
              <a:pathLst>
                <a:path w="3979768" h="733084">
                  <a:moveTo>
                    <a:pt x="10112" y="0"/>
                  </a:moveTo>
                  <a:lnTo>
                    <a:pt x="3969656" y="0"/>
                  </a:lnTo>
                  <a:cubicBezTo>
                    <a:pt x="3975240" y="0"/>
                    <a:pt x="3979768" y="4527"/>
                    <a:pt x="3979768" y="10112"/>
                  </a:cubicBezTo>
                  <a:lnTo>
                    <a:pt x="3979768" y="722972"/>
                  </a:lnTo>
                  <a:cubicBezTo>
                    <a:pt x="3979768" y="725654"/>
                    <a:pt x="3978702" y="728226"/>
                    <a:pt x="3976806" y="730122"/>
                  </a:cubicBezTo>
                  <a:cubicBezTo>
                    <a:pt x="3974910" y="732019"/>
                    <a:pt x="3972338" y="733084"/>
                    <a:pt x="3969656" y="733084"/>
                  </a:cubicBezTo>
                  <a:lnTo>
                    <a:pt x="10112" y="733084"/>
                  </a:lnTo>
                  <a:cubicBezTo>
                    <a:pt x="4527" y="733084"/>
                    <a:pt x="0" y="728557"/>
                    <a:pt x="0" y="722972"/>
                  </a:cubicBezTo>
                  <a:lnTo>
                    <a:pt x="0" y="10112"/>
                  </a:lnTo>
                  <a:cubicBezTo>
                    <a:pt x="0" y="4527"/>
                    <a:pt x="4527" y="0"/>
                    <a:pt x="10112" y="0"/>
                  </a:cubicBezTo>
                  <a:close/>
                </a:path>
              </a:pathLst>
            </a:custGeom>
            <a:solidFill>
              <a:srgbClr val="FFFFFF">
                <a:alpha val="15686"/>
              </a:srgbClr>
            </a:solidFill>
          </p:spPr>
          <p:txBody>
            <a:bodyPr/>
            <a:lstStyle/>
            <a:p>
              <a:endParaRPr lang="en-US" dirty="0"/>
            </a:p>
          </p:txBody>
        </p:sp>
        <p:sp>
          <p:nvSpPr>
            <p:cNvPr id="9" name="TextBox 9"/>
            <p:cNvSpPr txBox="1"/>
            <p:nvPr/>
          </p:nvSpPr>
          <p:spPr>
            <a:xfrm>
              <a:off x="0" y="-47625"/>
              <a:ext cx="3979768" cy="780709"/>
            </a:xfrm>
            <a:prstGeom prst="rect">
              <a:avLst/>
            </a:prstGeom>
          </p:spPr>
          <p:txBody>
            <a:bodyPr lIns="50800" tIns="50800" rIns="50800" bIns="50800" rtlCol="0" anchor="ctr"/>
            <a:lstStyle/>
            <a:p>
              <a:pPr algn="ctr">
                <a:lnSpc>
                  <a:spcPts val="3146"/>
                </a:lnSpc>
              </a:pPr>
              <a:endParaRPr/>
            </a:p>
          </p:txBody>
        </p:sp>
      </p:grpSp>
      <p:grpSp>
        <p:nvGrpSpPr>
          <p:cNvPr id="10" name="Group 10"/>
          <p:cNvGrpSpPr/>
          <p:nvPr/>
        </p:nvGrpSpPr>
        <p:grpSpPr>
          <a:xfrm>
            <a:off x="1922569" y="5736028"/>
            <a:ext cx="12965381" cy="2419608"/>
            <a:chOff x="0" y="0"/>
            <a:chExt cx="3979768" cy="733084"/>
          </a:xfrm>
        </p:grpSpPr>
        <p:sp>
          <p:nvSpPr>
            <p:cNvPr id="11" name="Freeform 11"/>
            <p:cNvSpPr/>
            <p:nvPr/>
          </p:nvSpPr>
          <p:spPr>
            <a:xfrm>
              <a:off x="0" y="0"/>
              <a:ext cx="3979768" cy="733084"/>
            </a:xfrm>
            <a:custGeom>
              <a:avLst/>
              <a:gdLst/>
              <a:ahLst/>
              <a:cxnLst/>
              <a:rect l="l" t="t" r="r" b="b"/>
              <a:pathLst>
                <a:path w="3979768" h="733084">
                  <a:moveTo>
                    <a:pt x="10112" y="0"/>
                  </a:moveTo>
                  <a:lnTo>
                    <a:pt x="3969656" y="0"/>
                  </a:lnTo>
                  <a:cubicBezTo>
                    <a:pt x="3975240" y="0"/>
                    <a:pt x="3979768" y="4527"/>
                    <a:pt x="3979768" y="10112"/>
                  </a:cubicBezTo>
                  <a:lnTo>
                    <a:pt x="3979768" y="722972"/>
                  </a:lnTo>
                  <a:cubicBezTo>
                    <a:pt x="3979768" y="725654"/>
                    <a:pt x="3978702" y="728226"/>
                    <a:pt x="3976806" y="730122"/>
                  </a:cubicBezTo>
                  <a:cubicBezTo>
                    <a:pt x="3974910" y="732019"/>
                    <a:pt x="3972338" y="733084"/>
                    <a:pt x="3969656" y="733084"/>
                  </a:cubicBezTo>
                  <a:lnTo>
                    <a:pt x="10112" y="733084"/>
                  </a:lnTo>
                  <a:cubicBezTo>
                    <a:pt x="4527" y="733084"/>
                    <a:pt x="0" y="728557"/>
                    <a:pt x="0" y="722972"/>
                  </a:cubicBezTo>
                  <a:lnTo>
                    <a:pt x="0" y="10112"/>
                  </a:lnTo>
                  <a:cubicBezTo>
                    <a:pt x="0" y="4527"/>
                    <a:pt x="4527" y="0"/>
                    <a:pt x="10112" y="0"/>
                  </a:cubicBezTo>
                  <a:close/>
                </a:path>
              </a:pathLst>
            </a:custGeom>
            <a:solidFill>
              <a:srgbClr val="FFFFFF">
                <a:alpha val="15686"/>
              </a:srgbClr>
            </a:solidFill>
          </p:spPr>
        </p:sp>
        <p:sp>
          <p:nvSpPr>
            <p:cNvPr id="12" name="TextBox 12"/>
            <p:cNvSpPr txBox="1"/>
            <p:nvPr/>
          </p:nvSpPr>
          <p:spPr>
            <a:xfrm>
              <a:off x="0" y="-47625"/>
              <a:ext cx="3979768" cy="780709"/>
            </a:xfrm>
            <a:prstGeom prst="rect">
              <a:avLst/>
            </a:prstGeom>
          </p:spPr>
          <p:txBody>
            <a:bodyPr lIns="50800" tIns="50800" rIns="50800" bIns="50800" rtlCol="0" anchor="ctr"/>
            <a:lstStyle/>
            <a:p>
              <a:pPr algn="ctr">
                <a:lnSpc>
                  <a:spcPts val="3146"/>
                </a:lnSpc>
              </a:pPr>
              <a:endParaRPr/>
            </a:p>
          </p:txBody>
        </p:sp>
      </p:grpSp>
      <p:grpSp>
        <p:nvGrpSpPr>
          <p:cNvPr id="13" name="Group 13"/>
          <p:cNvGrpSpPr/>
          <p:nvPr/>
        </p:nvGrpSpPr>
        <p:grpSpPr>
          <a:xfrm>
            <a:off x="13897938" y="3026901"/>
            <a:ext cx="2500280" cy="250028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6467" r="-33626"/>
              </a:stretch>
            </a:blipFill>
          </p:spPr>
        </p:sp>
      </p:grpSp>
      <p:grpSp>
        <p:nvGrpSpPr>
          <p:cNvPr id="15" name="Group 15"/>
          <p:cNvGrpSpPr/>
          <p:nvPr/>
        </p:nvGrpSpPr>
        <p:grpSpPr>
          <a:xfrm>
            <a:off x="13826771" y="5633326"/>
            <a:ext cx="2500280" cy="250028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456" r="-45637"/>
              </a:stretch>
            </a:blipFill>
          </p:spPr>
        </p:sp>
      </p:grpSp>
      <p:sp>
        <p:nvSpPr>
          <p:cNvPr id="17" name="TextBox 17"/>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Arial" panose="020B0604020202020204" pitchFamily="34" charset="0"/>
                <a:sym typeface="B612"/>
              </a:rPr>
              <a:t>MMCS</a:t>
            </a:r>
          </a:p>
        </p:txBody>
      </p:sp>
      <p:sp>
        <p:nvSpPr>
          <p:cNvPr id="20" name="TextBox 20"/>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Page 6</a:t>
            </a:r>
          </a:p>
        </p:txBody>
      </p:sp>
      <p:sp>
        <p:nvSpPr>
          <p:cNvPr id="21" name="TextBox 21"/>
          <p:cNvSpPr txBox="1"/>
          <p:nvPr/>
        </p:nvSpPr>
        <p:spPr>
          <a:xfrm>
            <a:off x="2271017" y="3291887"/>
            <a:ext cx="6497321" cy="1810752"/>
          </a:xfrm>
          <a:prstGeom prst="rect">
            <a:avLst/>
          </a:prstGeom>
        </p:spPr>
        <p:txBody>
          <a:bodyPr wrap="square" lIns="0" tIns="0" rIns="0" bIns="0" rtlCol="0" anchor="t">
            <a:spAutoFit/>
          </a:bodyPr>
          <a:lstStyle/>
          <a:p>
            <a:pPr marL="342900" indent="-342900" algn="r" rtl="1">
              <a:lnSpc>
                <a:spcPts val="3636"/>
              </a:lnSpc>
              <a:buFont typeface="Arial" panose="020B0604020202020204" pitchFamily="34" charset="0"/>
              <a:buChar char="•"/>
            </a:pPr>
            <a:r>
              <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rPr>
              <a:t>تحتوي على 900 ملف صوتي مدته ~30 ثانية لكل ملف.</a:t>
            </a:r>
          </a:p>
          <a:p>
            <a:pPr marL="342900" indent="-342900" algn="r" rtl="1">
              <a:lnSpc>
                <a:spcPts val="3636"/>
              </a:lnSpc>
              <a:buFont typeface="Arial" panose="020B0604020202020204" pitchFamily="34" charset="0"/>
              <a:buChar char="•"/>
            </a:pPr>
            <a:r>
              <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rPr>
              <a:t>مقسمة إلى 4 فئات: </a:t>
            </a:r>
            <a:r>
              <a:rPr lang="en-US" sz="2400" dirty="0">
                <a:solidFill>
                  <a:srgbClr val="FFFFFF"/>
                </a:solidFill>
                <a:latin typeface="Microsoft YaHei Light" panose="020B0502040204020203" pitchFamily="34" charset="-122"/>
                <a:ea typeface="Microsoft YaHei Light" panose="020B0502040204020203" pitchFamily="34" charset="-122"/>
                <a:cs typeface="+mj-cs"/>
                <a:sym typeface="B612"/>
                <a:rtl/>
              </a:rPr>
              <a:t>Q1, Q2, Q3, Q4.</a:t>
            </a:r>
          </a:p>
          <a:p>
            <a:pPr marL="342900" indent="-342900" algn="r" rtl="1">
              <a:lnSpc>
                <a:spcPts val="3636"/>
              </a:lnSpc>
              <a:buFont typeface="Arial" panose="020B0604020202020204" pitchFamily="34" charset="0"/>
              <a:buChar char="•"/>
            </a:pPr>
            <a:r>
              <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rPr>
              <a:t>تم تحديد 225 أغنية لكل فئة لضمان تساوي العينات.</a:t>
            </a:r>
          </a:p>
          <a:p>
            <a:pPr marL="342900" indent="-342900" algn="r" rtl="1">
              <a:lnSpc>
                <a:spcPts val="3636"/>
              </a:lnSpc>
              <a:buFont typeface="Arial" panose="020B0604020202020204" pitchFamily="34" charset="0"/>
              <a:buChar char="•"/>
            </a:pPr>
            <a:r>
              <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rPr>
              <a:t>المصدر: </a:t>
            </a:r>
            <a:r>
              <a:rPr lang="en-US" sz="2400" dirty="0">
                <a:solidFill>
                  <a:srgbClr val="FFFFFF"/>
                </a:solidFill>
                <a:latin typeface="Microsoft YaHei Light" panose="020B0502040204020203" pitchFamily="34" charset="-122"/>
                <a:ea typeface="Microsoft YaHei Light" panose="020B0502040204020203" pitchFamily="34" charset="-122"/>
                <a:cs typeface="+mj-cs"/>
                <a:sym typeface="B612"/>
                <a:rtl/>
              </a:rPr>
              <a:t>http://mir.dei.uc.pt/downloads.html</a:t>
            </a:r>
            <a:endPar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endParaRPr>
          </a:p>
        </p:txBody>
      </p:sp>
      <p:sp>
        <p:nvSpPr>
          <p:cNvPr id="23" name="TextBox 23"/>
          <p:cNvSpPr txBox="1"/>
          <p:nvPr/>
        </p:nvSpPr>
        <p:spPr>
          <a:xfrm>
            <a:off x="9449478" y="3481563"/>
            <a:ext cx="4100999" cy="1036951"/>
          </a:xfrm>
          <a:prstGeom prst="rect">
            <a:avLst/>
          </a:prstGeom>
        </p:spPr>
        <p:txBody>
          <a:bodyPr wrap="square" lIns="0" tIns="0" rIns="0" bIns="0" rtlCol="0" anchor="t">
            <a:spAutoFit/>
          </a:bodyPr>
          <a:lstStyle/>
          <a:p>
            <a:pPr algn="r" rtl="1">
              <a:lnSpc>
                <a:spcPts val="4191"/>
              </a:lnSpc>
            </a:pPr>
            <a:r>
              <a:rPr lang="it-IT" sz="2994" b="1" dirty="0">
                <a:solidFill>
                  <a:srgbClr val="FFFFFF"/>
                </a:solidFill>
                <a:latin typeface="Microsoft YaHei Light" panose="020B0502040204020203" pitchFamily="34" charset="-122"/>
                <a:ea typeface="Microsoft YaHei Light" panose="020B0502040204020203" pitchFamily="34" charset="-122"/>
                <a:cs typeface="B612 Bold"/>
                <a:sym typeface="B612 Bold"/>
                <a:rtl/>
              </a:rPr>
              <a:t>Dataset 1: 4Q Audio Emotion Dataset</a:t>
            </a:r>
          </a:p>
        </p:txBody>
      </p:sp>
      <p:sp>
        <p:nvSpPr>
          <p:cNvPr id="24" name="TextBox 24"/>
          <p:cNvSpPr txBox="1"/>
          <p:nvPr/>
        </p:nvSpPr>
        <p:spPr>
          <a:xfrm>
            <a:off x="8414965" y="6324787"/>
            <a:ext cx="5168477" cy="1036951"/>
          </a:xfrm>
          <a:prstGeom prst="rect">
            <a:avLst/>
          </a:prstGeom>
        </p:spPr>
        <p:txBody>
          <a:bodyPr wrap="square" lIns="0" tIns="0" rIns="0" bIns="0" rtlCol="0" anchor="t">
            <a:spAutoFit/>
          </a:bodyPr>
          <a:lstStyle/>
          <a:p>
            <a:pPr algn="r" rtl="1">
              <a:lnSpc>
                <a:spcPts val="4191"/>
              </a:lnSpc>
            </a:pPr>
            <a:r>
              <a:rPr lang="en-US" sz="2994" b="1" dirty="0">
                <a:solidFill>
                  <a:srgbClr val="FFFFFF"/>
                </a:solidFill>
                <a:latin typeface="Microsoft YaHei Light" panose="020B0502040204020203" pitchFamily="34" charset="-122"/>
                <a:ea typeface="Microsoft YaHei Light" panose="020B0502040204020203" pitchFamily="34" charset="-122"/>
                <a:cs typeface="B612 Bold"/>
                <a:sym typeface="B612 Bold"/>
                <a:rtl/>
              </a:rPr>
              <a:t>Dataset 2: Turkish Music Emotion Dataset</a:t>
            </a:r>
          </a:p>
        </p:txBody>
      </p:sp>
      <p:sp>
        <p:nvSpPr>
          <p:cNvPr id="25" name="TextBox 25"/>
          <p:cNvSpPr txBox="1"/>
          <p:nvPr/>
        </p:nvSpPr>
        <p:spPr>
          <a:xfrm>
            <a:off x="6931896" y="1631436"/>
            <a:ext cx="3814607" cy="616900"/>
          </a:xfrm>
          <a:prstGeom prst="rect">
            <a:avLst/>
          </a:prstGeom>
        </p:spPr>
        <p:txBody>
          <a:bodyPr wrap="square" lIns="0" tIns="0" rIns="0" bIns="0" rtlCol="0" anchor="t">
            <a:spAutoFit/>
          </a:bodyPr>
          <a:lstStyle/>
          <a:p>
            <a:pPr algn="ctr" rtl="1">
              <a:lnSpc>
                <a:spcPts val="5163"/>
              </a:lnSpc>
              <a:spcBef>
                <a:spcPct val="0"/>
              </a:spcBef>
            </a:pPr>
            <a:r>
              <a:rPr lang="ar-SY" sz="4000" b="1" dirty="0">
                <a:solidFill>
                  <a:srgbClr val="FFFFFF"/>
                </a:solidFill>
                <a:latin typeface="Arial" panose="020B0604020202020204" pitchFamily="34" charset="0"/>
                <a:ea typeface="B612 Bold"/>
                <a:cs typeface="Arial" panose="020B0604020202020204" pitchFamily="34" charset="0"/>
                <a:sym typeface="B612 Bold"/>
                <a:rtl/>
              </a:rPr>
              <a:t>مجموعات البيانات</a:t>
            </a:r>
            <a:endParaRPr lang="ar-EG" sz="4000" b="1" dirty="0">
              <a:solidFill>
                <a:srgbClr val="FFFFFF"/>
              </a:solidFill>
              <a:latin typeface="Arial" panose="020B0604020202020204" pitchFamily="34" charset="0"/>
              <a:ea typeface="B612 Bold"/>
              <a:cs typeface="Arial" panose="020B0604020202020204" pitchFamily="34" charset="0"/>
              <a:sym typeface="B612 Bold"/>
              <a:rtl/>
            </a:endParaRPr>
          </a:p>
        </p:txBody>
      </p:sp>
      <p:sp>
        <p:nvSpPr>
          <p:cNvPr id="27" name="مربع نص 26">
            <a:extLst>
              <a:ext uri="{FF2B5EF4-FFF2-40B4-BE49-F238E27FC236}">
                <a16:creationId xmlns:a16="http://schemas.microsoft.com/office/drawing/2014/main" id="{524C2539-B1EE-4081-8723-8A0DE3D2DB7D}"/>
              </a:ext>
            </a:extLst>
          </p:cNvPr>
          <p:cNvSpPr txBox="1"/>
          <p:nvPr/>
        </p:nvSpPr>
        <p:spPr>
          <a:xfrm>
            <a:off x="1960949" y="5791530"/>
            <a:ext cx="6878251" cy="2308324"/>
          </a:xfrm>
          <a:prstGeom prst="rect">
            <a:avLst/>
          </a:prstGeom>
          <a:noFill/>
        </p:spPr>
        <p:txBody>
          <a:bodyPr wrap="square">
            <a:spAutoFit/>
          </a:bodyPr>
          <a:lstStyle/>
          <a:p>
            <a:pPr algn="r" rtl="1">
              <a:buFont typeface="Arial" panose="020B0604020202020204" pitchFamily="34" charset="0"/>
              <a:buChar char="•"/>
            </a:pPr>
            <a:r>
              <a:rPr lang="en-US" sz="2400" b="0" i="0" dirty="0">
                <a:solidFill>
                  <a:schemeClr val="bg1"/>
                </a:solidFill>
                <a:effectLst/>
                <a:latin typeface="Microsoft YaHei Light" panose="020B0502040204020203" pitchFamily="34" charset="-122"/>
                <a:ea typeface="Microsoft YaHei Light" panose="020B0502040204020203" pitchFamily="34" charset="-122"/>
              </a:rPr>
              <a:t>  </a:t>
            </a:r>
            <a:r>
              <a:rPr lang="ar-SY" sz="2400" b="0" i="0" dirty="0">
                <a:solidFill>
                  <a:schemeClr val="bg1"/>
                </a:solidFill>
                <a:effectLst/>
                <a:latin typeface="Microsoft YaHei Light" panose="020B0502040204020203" pitchFamily="34" charset="-122"/>
                <a:ea typeface="Microsoft YaHei Light" panose="020B0502040204020203" pitchFamily="34" charset="-122"/>
              </a:rPr>
              <a:t>تحتوي على 400 ملف صوتي مدته ~30 ثانية لكل ملف.</a:t>
            </a:r>
          </a:p>
          <a:p>
            <a:pPr algn="r" rtl="1">
              <a:buFont typeface="Arial" panose="020B0604020202020204" pitchFamily="34" charset="0"/>
              <a:buChar char="•"/>
            </a:pPr>
            <a:r>
              <a:rPr lang="en-US" sz="2400" b="0" i="0" dirty="0">
                <a:solidFill>
                  <a:schemeClr val="bg1"/>
                </a:solidFill>
                <a:effectLst/>
                <a:latin typeface="Microsoft YaHei Light" panose="020B0502040204020203" pitchFamily="34" charset="-122"/>
                <a:ea typeface="Microsoft YaHei Light" panose="020B0502040204020203" pitchFamily="34" charset="-122"/>
              </a:rPr>
              <a:t>  </a:t>
            </a:r>
            <a:r>
              <a:rPr lang="ar-SY" sz="2400" b="0" i="0" dirty="0">
                <a:solidFill>
                  <a:schemeClr val="bg1"/>
                </a:solidFill>
                <a:effectLst/>
                <a:latin typeface="Microsoft YaHei Light" panose="020B0502040204020203" pitchFamily="34" charset="-122"/>
                <a:ea typeface="Microsoft YaHei Light" panose="020B0502040204020203" pitchFamily="34" charset="-122"/>
              </a:rPr>
              <a:t>مقسمة إلى 4 فئات: سعيد، غاضب، حزين، مسترخي.</a:t>
            </a:r>
          </a:p>
          <a:p>
            <a:pPr algn="r" rtl="1">
              <a:buFont typeface="Arial" panose="020B0604020202020204" pitchFamily="34" charset="0"/>
              <a:buChar char="•"/>
            </a:pPr>
            <a:r>
              <a:rPr lang="en-US" sz="2400" b="0" i="0" dirty="0">
                <a:solidFill>
                  <a:schemeClr val="bg1"/>
                </a:solidFill>
                <a:effectLst/>
                <a:latin typeface="Microsoft YaHei Light" panose="020B0502040204020203" pitchFamily="34" charset="-122"/>
                <a:ea typeface="Microsoft YaHei Light" panose="020B0502040204020203" pitchFamily="34" charset="-122"/>
              </a:rPr>
              <a:t>  </a:t>
            </a:r>
            <a:r>
              <a:rPr lang="ar-SY" sz="2400" b="0" i="0" dirty="0">
                <a:solidFill>
                  <a:schemeClr val="bg1"/>
                </a:solidFill>
                <a:effectLst/>
                <a:latin typeface="Microsoft YaHei Light" panose="020B0502040204020203" pitchFamily="34" charset="-122"/>
                <a:ea typeface="Microsoft YaHei Light" panose="020B0502040204020203" pitchFamily="34" charset="-122"/>
              </a:rPr>
              <a:t>تم تحديد 100 أغنية لكل فئة لضمان تساوي العينات.</a:t>
            </a:r>
          </a:p>
          <a:p>
            <a:pPr algn="r" rtl="1">
              <a:buFont typeface="Arial" panose="020B0604020202020204" pitchFamily="34" charset="0"/>
              <a:buChar char="•"/>
            </a:pPr>
            <a:r>
              <a:rPr lang="en-US" sz="2400" b="0" i="0" dirty="0">
                <a:solidFill>
                  <a:schemeClr val="bg1"/>
                </a:solidFill>
                <a:effectLst/>
                <a:latin typeface="Microsoft YaHei Light" panose="020B0502040204020203" pitchFamily="34" charset="-122"/>
                <a:ea typeface="Microsoft YaHei Light" panose="020B0502040204020203" pitchFamily="34" charset="-122"/>
              </a:rPr>
              <a:t>  </a:t>
            </a:r>
            <a:r>
              <a:rPr lang="ar-SY" sz="2400" b="0" i="0" dirty="0">
                <a:solidFill>
                  <a:schemeClr val="bg1"/>
                </a:solidFill>
                <a:effectLst/>
                <a:latin typeface="Microsoft YaHei Light" panose="020B0502040204020203" pitchFamily="34" charset="-122"/>
                <a:ea typeface="Microsoft YaHei Light" panose="020B0502040204020203" pitchFamily="34" charset="-122"/>
              </a:rPr>
              <a:t>المصدر: </a:t>
            </a:r>
            <a:r>
              <a:rPr lang="en-US" sz="2400" b="0" i="0" u="sng" dirty="0">
                <a:solidFill>
                  <a:schemeClr val="bg1"/>
                </a:solidFill>
                <a:effectLst/>
                <a:latin typeface="Microsoft YaHei Light" panose="020B0502040204020203" pitchFamily="34" charset="-122"/>
                <a:ea typeface="Microsoft YaHei Light" panose="020B0502040204020203" pitchFamily="34" charset="-122"/>
                <a:hlinkClick r:id="rId5">
                  <a:extLst>
                    <a:ext uri="{A12FA001-AC4F-418D-AE19-62706E023703}">
                      <ahyp:hlinkClr xmlns:ahyp="http://schemas.microsoft.com/office/drawing/2018/hyperlinkcolor" val="tx"/>
                    </a:ext>
                  </a:extLst>
                </a:hlinkClick>
              </a:rPr>
              <a:t>https://www.kaggle.com/datasets/blaler/turkish-music-emotion-dataset</a:t>
            </a:r>
            <a:endParaRPr lang="en-US" sz="2400" b="0" i="0" dirty="0">
              <a:solidFill>
                <a:schemeClr val="bg1"/>
              </a:solidFill>
              <a:effectLst/>
              <a:latin typeface="Microsoft YaHei Light" panose="020B0502040204020203" pitchFamily="34" charset="-122"/>
              <a:ea typeface="Microsoft YaHei Light" panose="020B0502040204020203" pitchFamily="34" charset="-122"/>
            </a:endParaRPr>
          </a:p>
        </p:txBody>
      </p:sp>
      <p:sp>
        <p:nvSpPr>
          <p:cNvPr id="26" name="TextBox 11">
            <a:extLst>
              <a:ext uri="{FF2B5EF4-FFF2-40B4-BE49-F238E27FC236}">
                <a16:creationId xmlns:a16="http://schemas.microsoft.com/office/drawing/2014/main" id="{4FE8EAF3-6FEA-476C-821A-6D394001004E}"/>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grpSp>
        <p:nvGrpSpPr>
          <p:cNvPr id="7" name="Group 7"/>
          <p:cNvGrpSpPr/>
          <p:nvPr/>
        </p:nvGrpSpPr>
        <p:grpSpPr>
          <a:xfrm>
            <a:off x="3690280" y="2979952"/>
            <a:ext cx="11850584" cy="4449538"/>
            <a:chOff x="0" y="0"/>
            <a:chExt cx="2146919" cy="822748"/>
          </a:xfrm>
        </p:grpSpPr>
        <p:sp>
          <p:nvSpPr>
            <p:cNvPr id="8" name="Freeform 8"/>
            <p:cNvSpPr/>
            <p:nvPr/>
          </p:nvSpPr>
          <p:spPr>
            <a:xfrm>
              <a:off x="0" y="0"/>
              <a:ext cx="2146919" cy="822748"/>
            </a:xfrm>
            <a:custGeom>
              <a:avLst/>
              <a:gdLst/>
              <a:ahLst/>
              <a:cxnLst/>
              <a:rect l="l" t="t" r="r" b="b"/>
              <a:pathLst>
                <a:path w="2146919" h="822748">
                  <a:moveTo>
                    <a:pt x="20604" y="0"/>
                  </a:moveTo>
                  <a:lnTo>
                    <a:pt x="2126315" y="0"/>
                  </a:lnTo>
                  <a:cubicBezTo>
                    <a:pt x="2137694" y="0"/>
                    <a:pt x="2146919" y="9225"/>
                    <a:pt x="2146919" y="20604"/>
                  </a:cubicBezTo>
                  <a:lnTo>
                    <a:pt x="2146919" y="802144"/>
                  </a:lnTo>
                  <a:cubicBezTo>
                    <a:pt x="2146919" y="807609"/>
                    <a:pt x="2144748" y="812849"/>
                    <a:pt x="2140884" y="816713"/>
                  </a:cubicBezTo>
                  <a:cubicBezTo>
                    <a:pt x="2137020" y="820577"/>
                    <a:pt x="2131779" y="822748"/>
                    <a:pt x="2126315" y="822748"/>
                  </a:cubicBezTo>
                  <a:lnTo>
                    <a:pt x="20604" y="822748"/>
                  </a:lnTo>
                  <a:cubicBezTo>
                    <a:pt x="9225" y="822748"/>
                    <a:pt x="0" y="813523"/>
                    <a:pt x="0" y="802144"/>
                  </a:cubicBezTo>
                  <a:lnTo>
                    <a:pt x="0" y="20604"/>
                  </a:lnTo>
                  <a:cubicBezTo>
                    <a:pt x="0" y="9225"/>
                    <a:pt x="9225" y="0"/>
                    <a:pt x="20604" y="0"/>
                  </a:cubicBezTo>
                  <a:close/>
                </a:path>
              </a:pathLst>
            </a:custGeom>
            <a:solidFill>
              <a:srgbClr val="FFFFFF">
                <a:alpha val="15686"/>
              </a:srgbClr>
            </a:solidFill>
            <a:ln cap="sq">
              <a:noFill/>
              <a:prstDash val="solid"/>
              <a:miter/>
            </a:ln>
          </p:spPr>
        </p:sp>
        <p:sp>
          <p:nvSpPr>
            <p:cNvPr id="9" name="TextBox 9"/>
            <p:cNvSpPr txBox="1"/>
            <p:nvPr/>
          </p:nvSpPr>
          <p:spPr>
            <a:xfrm>
              <a:off x="0" y="-47625"/>
              <a:ext cx="2146919" cy="870373"/>
            </a:xfrm>
            <a:prstGeom prst="rect">
              <a:avLst/>
            </a:prstGeom>
          </p:spPr>
          <p:txBody>
            <a:bodyPr lIns="50800" tIns="50800" rIns="50800" bIns="50800" rtlCol="0" anchor="ctr"/>
            <a:lstStyle/>
            <a:p>
              <a:pPr algn="ctr">
                <a:lnSpc>
                  <a:spcPts val="3146"/>
                </a:lnSpc>
              </a:pPr>
              <a:endParaRPr/>
            </a:p>
          </p:txBody>
        </p:sp>
      </p:grpSp>
      <p:sp>
        <p:nvSpPr>
          <p:cNvPr id="19" name="TextBox 19"/>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Arial" panose="020B0604020202020204" pitchFamily="34" charset="0"/>
                <a:sym typeface="B612"/>
              </a:rPr>
              <a:t>MMCS</a:t>
            </a:r>
          </a:p>
        </p:txBody>
      </p:sp>
      <p:sp>
        <p:nvSpPr>
          <p:cNvPr id="22" name="TextBox 22"/>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Page 7</a:t>
            </a:r>
          </a:p>
        </p:txBody>
      </p:sp>
      <p:sp>
        <p:nvSpPr>
          <p:cNvPr id="27" name="TextBox 27"/>
          <p:cNvSpPr txBox="1"/>
          <p:nvPr/>
        </p:nvSpPr>
        <p:spPr>
          <a:xfrm>
            <a:off x="3985274" y="3503183"/>
            <a:ext cx="11260595" cy="2801857"/>
          </a:xfrm>
          <a:prstGeom prst="rect">
            <a:avLst/>
          </a:prstGeom>
        </p:spPr>
        <p:txBody>
          <a:bodyPr wrap="square" lIns="0" tIns="0" rIns="0" bIns="0" rtlCol="0" anchor="t">
            <a:spAutoFit/>
          </a:bodyPr>
          <a:lstStyle/>
          <a:p>
            <a:pPr marL="457200" indent="-457200" algn="r" rtl="1">
              <a:lnSpc>
                <a:spcPct val="200000"/>
              </a:lnSpc>
              <a:buFont typeface="Wingdings" panose="05000000000000000000" pitchFamily="2" charset="2"/>
              <a:buChar char="Ø"/>
            </a:pPr>
            <a:r>
              <a:rPr lang="ar-EG" sz="3200" dirty="0">
                <a:solidFill>
                  <a:srgbClr val="FFFFFF"/>
                </a:solidFill>
                <a:latin typeface="Microsoft YaHei Light" panose="020B0502040204020203" pitchFamily="34" charset="-122"/>
                <a:ea typeface="Microsoft YaHei Light" panose="020B0502040204020203" pitchFamily="34" charset="-122"/>
                <a:cs typeface="Arial" panose="020B0604020202020204" pitchFamily="34" charset="0"/>
                <a:sym typeface="B612 Bold"/>
                <a:rtl/>
              </a:rPr>
              <a:t>التحقق من طول جميع الملفات الصوتية وإزالة الملفات القصيرة جدًا (&lt;25.5 ثانية).</a:t>
            </a:r>
          </a:p>
          <a:p>
            <a:pPr marL="457200" indent="-457200" algn="r" rtl="1">
              <a:lnSpc>
                <a:spcPct val="200000"/>
              </a:lnSpc>
              <a:buFont typeface="Wingdings" panose="05000000000000000000" pitchFamily="2" charset="2"/>
              <a:buChar char="Ø"/>
            </a:pPr>
            <a:r>
              <a:rPr lang="ar-EG" sz="3200" dirty="0">
                <a:solidFill>
                  <a:srgbClr val="FFFFFF"/>
                </a:solidFill>
                <a:latin typeface="Microsoft YaHei Light" panose="020B0502040204020203" pitchFamily="34" charset="-122"/>
                <a:ea typeface="Microsoft YaHei Light" panose="020B0502040204020203" pitchFamily="34" charset="-122"/>
                <a:cs typeface="Arial" panose="020B0604020202020204" pitchFamily="34" charset="0"/>
                <a:sym typeface="B612 Bold"/>
                <a:rtl/>
              </a:rPr>
              <a:t>قص جميع الملفات إلى مدة ثابتة (25.5 ثانية).</a:t>
            </a:r>
          </a:p>
          <a:p>
            <a:pPr marL="457200" indent="-457200" algn="r" rtl="1">
              <a:lnSpc>
                <a:spcPct val="200000"/>
              </a:lnSpc>
              <a:buFont typeface="Wingdings" panose="05000000000000000000" pitchFamily="2" charset="2"/>
              <a:buChar char="Ø"/>
            </a:pPr>
            <a:r>
              <a:rPr lang="ar-EG" sz="3200" dirty="0">
                <a:solidFill>
                  <a:srgbClr val="FFFFFF"/>
                </a:solidFill>
                <a:latin typeface="Microsoft YaHei Light" panose="020B0502040204020203" pitchFamily="34" charset="-122"/>
                <a:ea typeface="Microsoft YaHei Light" panose="020B0502040204020203" pitchFamily="34" charset="-122"/>
                <a:cs typeface="Arial" panose="020B0604020202020204" pitchFamily="34" charset="0"/>
                <a:sym typeface="B612 Bold"/>
                <a:rtl/>
              </a:rPr>
              <a:t>ضمان تنظيف البيانات وإعدادها لاستخراج الخصائص.</a:t>
            </a:r>
          </a:p>
        </p:txBody>
      </p:sp>
      <p:sp>
        <p:nvSpPr>
          <p:cNvPr id="35" name="TextBox 35"/>
          <p:cNvSpPr txBox="1"/>
          <p:nvPr/>
        </p:nvSpPr>
        <p:spPr>
          <a:xfrm>
            <a:off x="6707381" y="1736357"/>
            <a:ext cx="4873238" cy="616900"/>
          </a:xfrm>
          <a:prstGeom prst="rect">
            <a:avLst/>
          </a:prstGeom>
        </p:spPr>
        <p:txBody>
          <a:bodyPr wrap="square" lIns="0" tIns="0" rIns="0" bIns="0" rtlCol="0" anchor="t">
            <a:spAutoFit/>
          </a:bodyPr>
          <a:lstStyle/>
          <a:p>
            <a:pPr algn="ctr" rtl="1">
              <a:lnSpc>
                <a:spcPts val="5163"/>
              </a:lnSpc>
              <a:spcBef>
                <a:spcPct val="0"/>
              </a:spcBef>
            </a:pPr>
            <a:r>
              <a:rPr lang="ar-EG" sz="4000" b="1" dirty="0">
                <a:solidFill>
                  <a:srgbClr val="FFFFFF"/>
                </a:solidFill>
                <a:latin typeface="Arial" panose="020B0604020202020204" pitchFamily="34" charset="0"/>
                <a:ea typeface="B612 Bold"/>
                <a:cs typeface="Arial" panose="020B0604020202020204" pitchFamily="34" charset="0"/>
                <a:sym typeface="B612 Bold"/>
                <a:rtl/>
              </a:rPr>
              <a:t>المعالجة الأولية للبيانات</a:t>
            </a:r>
          </a:p>
        </p:txBody>
      </p:sp>
      <p:sp>
        <p:nvSpPr>
          <p:cNvPr id="15" name="TextBox 11">
            <a:extLst>
              <a:ext uri="{FF2B5EF4-FFF2-40B4-BE49-F238E27FC236}">
                <a16:creationId xmlns:a16="http://schemas.microsoft.com/office/drawing/2014/main" id="{0061ADFA-1364-429A-885B-6494A0ECD5DA}"/>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cs typeface="+mj-cs"/>
            </a:endParaRPr>
          </a:p>
        </p:txBody>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grpSp>
        <p:nvGrpSpPr>
          <p:cNvPr id="7" name="Group 7"/>
          <p:cNvGrpSpPr/>
          <p:nvPr/>
        </p:nvGrpSpPr>
        <p:grpSpPr>
          <a:xfrm>
            <a:off x="3450074" y="2716675"/>
            <a:ext cx="11698393" cy="2138624"/>
            <a:chOff x="0" y="0"/>
            <a:chExt cx="3931796" cy="519818"/>
          </a:xfrm>
        </p:grpSpPr>
        <p:sp>
          <p:nvSpPr>
            <p:cNvPr id="8" name="Freeform 8"/>
            <p:cNvSpPr/>
            <p:nvPr/>
          </p:nvSpPr>
          <p:spPr>
            <a:xfrm>
              <a:off x="0" y="0"/>
              <a:ext cx="3931796" cy="519818"/>
            </a:xfrm>
            <a:custGeom>
              <a:avLst/>
              <a:gdLst/>
              <a:ahLst/>
              <a:cxnLst/>
              <a:rect l="l" t="t" r="r" b="b"/>
              <a:pathLst>
                <a:path w="3931796" h="519818">
                  <a:moveTo>
                    <a:pt x="11250" y="0"/>
                  </a:moveTo>
                  <a:lnTo>
                    <a:pt x="3920546" y="0"/>
                  </a:lnTo>
                  <a:cubicBezTo>
                    <a:pt x="3923530" y="0"/>
                    <a:pt x="3926391" y="1185"/>
                    <a:pt x="3928501" y="3295"/>
                  </a:cubicBezTo>
                  <a:cubicBezTo>
                    <a:pt x="3930611" y="5405"/>
                    <a:pt x="3931796" y="8267"/>
                    <a:pt x="3931796" y="11250"/>
                  </a:cubicBezTo>
                  <a:lnTo>
                    <a:pt x="3931796" y="508567"/>
                  </a:lnTo>
                  <a:cubicBezTo>
                    <a:pt x="3931796" y="511551"/>
                    <a:pt x="3930611" y="514413"/>
                    <a:pt x="3928501" y="516522"/>
                  </a:cubicBezTo>
                  <a:cubicBezTo>
                    <a:pt x="3926391" y="518632"/>
                    <a:pt x="3923530" y="519818"/>
                    <a:pt x="3920546" y="519818"/>
                  </a:cubicBezTo>
                  <a:lnTo>
                    <a:pt x="11250" y="519818"/>
                  </a:lnTo>
                  <a:cubicBezTo>
                    <a:pt x="8267" y="519818"/>
                    <a:pt x="5405" y="518632"/>
                    <a:pt x="3295" y="516522"/>
                  </a:cubicBezTo>
                  <a:cubicBezTo>
                    <a:pt x="1185" y="514413"/>
                    <a:pt x="0" y="511551"/>
                    <a:pt x="0" y="508567"/>
                  </a:cubicBezTo>
                  <a:lnTo>
                    <a:pt x="0" y="11250"/>
                  </a:lnTo>
                  <a:cubicBezTo>
                    <a:pt x="0" y="8267"/>
                    <a:pt x="1185" y="5405"/>
                    <a:pt x="3295" y="3295"/>
                  </a:cubicBezTo>
                  <a:cubicBezTo>
                    <a:pt x="5405" y="1185"/>
                    <a:pt x="8267" y="0"/>
                    <a:pt x="11250" y="0"/>
                  </a:cubicBezTo>
                  <a:close/>
                </a:path>
              </a:pathLst>
            </a:custGeom>
            <a:solidFill>
              <a:srgbClr val="FFFFFF">
                <a:alpha val="15686"/>
              </a:srgbClr>
            </a:solidFill>
            <a:ln cap="sq">
              <a:noFill/>
              <a:prstDash val="solid"/>
              <a:miter/>
            </a:ln>
          </p:spPr>
        </p:sp>
        <p:sp>
          <p:nvSpPr>
            <p:cNvPr id="9" name="TextBox 9"/>
            <p:cNvSpPr txBox="1"/>
            <p:nvPr/>
          </p:nvSpPr>
          <p:spPr>
            <a:xfrm>
              <a:off x="0" y="-47625"/>
              <a:ext cx="3931796" cy="567443"/>
            </a:xfrm>
            <a:prstGeom prst="rect">
              <a:avLst/>
            </a:prstGeom>
          </p:spPr>
          <p:txBody>
            <a:bodyPr lIns="50800" tIns="50800" rIns="50800" bIns="50800" rtlCol="0" anchor="ctr"/>
            <a:lstStyle/>
            <a:p>
              <a:pPr algn="ctr">
                <a:lnSpc>
                  <a:spcPts val="3146"/>
                </a:lnSpc>
              </a:pPr>
              <a:endParaRPr>
                <a:cs typeface="+mj-cs"/>
              </a:endParaRPr>
            </a:p>
          </p:txBody>
        </p:sp>
      </p:grpSp>
      <p:grpSp>
        <p:nvGrpSpPr>
          <p:cNvPr id="10" name="Group 10"/>
          <p:cNvGrpSpPr/>
          <p:nvPr/>
        </p:nvGrpSpPr>
        <p:grpSpPr>
          <a:xfrm>
            <a:off x="3398295" y="5154025"/>
            <a:ext cx="11744803" cy="1975352"/>
            <a:chOff x="0" y="0"/>
            <a:chExt cx="3947394" cy="519818"/>
          </a:xfrm>
        </p:grpSpPr>
        <p:sp>
          <p:nvSpPr>
            <p:cNvPr id="11" name="Freeform 11"/>
            <p:cNvSpPr/>
            <p:nvPr/>
          </p:nvSpPr>
          <p:spPr>
            <a:xfrm>
              <a:off x="0" y="0"/>
              <a:ext cx="3947394" cy="519818"/>
            </a:xfrm>
            <a:custGeom>
              <a:avLst/>
              <a:gdLst/>
              <a:ahLst/>
              <a:cxnLst/>
              <a:rect l="l" t="t" r="r" b="b"/>
              <a:pathLst>
                <a:path w="3947394" h="519818">
                  <a:moveTo>
                    <a:pt x="11206" y="0"/>
                  </a:moveTo>
                  <a:lnTo>
                    <a:pt x="3936188" y="0"/>
                  </a:lnTo>
                  <a:cubicBezTo>
                    <a:pt x="3939160" y="0"/>
                    <a:pt x="3942011" y="1181"/>
                    <a:pt x="3944112" y="3282"/>
                  </a:cubicBezTo>
                  <a:cubicBezTo>
                    <a:pt x="3946214" y="5384"/>
                    <a:pt x="3947394" y="8234"/>
                    <a:pt x="3947394" y="11206"/>
                  </a:cubicBezTo>
                  <a:lnTo>
                    <a:pt x="3947394" y="508612"/>
                  </a:lnTo>
                  <a:cubicBezTo>
                    <a:pt x="3947394" y="514801"/>
                    <a:pt x="3942377" y="519818"/>
                    <a:pt x="3936188" y="519818"/>
                  </a:cubicBezTo>
                  <a:lnTo>
                    <a:pt x="11206" y="519818"/>
                  </a:lnTo>
                  <a:cubicBezTo>
                    <a:pt x="5017" y="519818"/>
                    <a:pt x="0" y="514801"/>
                    <a:pt x="0" y="508612"/>
                  </a:cubicBezTo>
                  <a:lnTo>
                    <a:pt x="0" y="11206"/>
                  </a:lnTo>
                  <a:cubicBezTo>
                    <a:pt x="0" y="5017"/>
                    <a:pt x="5017" y="0"/>
                    <a:pt x="11206" y="0"/>
                  </a:cubicBezTo>
                  <a:close/>
                </a:path>
              </a:pathLst>
            </a:custGeom>
            <a:solidFill>
              <a:srgbClr val="FFFFFF">
                <a:alpha val="15686"/>
              </a:srgbClr>
            </a:solidFill>
            <a:ln cap="sq">
              <a:noFill/>
              <a:prstDash val="solid"/>
              <a:miter/>
            </a:ln>
          </p:spPr>
        </p:sp>
        <p:sp>
          <p:nvSpPr>
            <p:cNvPr id="12" name="TextBox 12"/>
            <p:cNvSpPr txBox="1"/>
            <p:nvPr/>
          </p:nvSpPr>
          <p:spPr>
            <a:xfrm>
              <a:off x="0" y="-47625"/>
              <a:ext cx="3947394" cy="567443"/>
            </a:xfrm>
            <a:prstGeom prst="rect">
              <a:avLst/>
            </a:prstGeom>
          </p:spPr>
          <p:txBody>
            <a:bodyPr lIns="50800" tIns="50800" rIns="50800" bIns="50800" rtlCol="0" anchor="ctr"/>
            <a:lstStyle/>
            <a:p>
              <a:pPr algn="ctr">
                <a:lnSpc>
                  <a:spcPts val="3146"/>
                </a:lnSpc>
              </a:pPr>
              <a:endParaRPr>
                <a:cs typeface="+mj-cs"/>
              </a:endParaRPr>
            </a:p>
          </p:txBody>
        </p:sp>
      </p:grpSp>
      <p:sp>
        <p:nvSpPr>
          <p:cNvPr id="16" name="TextBox 16"/>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MMCS</a:t>
            </a:r>
          </a:p>
        </p:txBody>
      </p:sp>
      <p:sp>
        <p:nvSpPr>
          <p:cNvPr id="19" name="TextBox 19"/>
          <p:cNvSpPr txBox="1"/>
          <p:nvPr/>
        </p:nvSpPr>
        <p:spPr>
          <a:xfrm>
            <a:off x="1871973" y="8529606"/>
            <a:ext cx="1512641"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Page 8</a:t>
            </a:r>
          </a:p>
        </p:txBody>
      </p:sp>
      <p:sp>
        <p:nvSpPr>
          <p:cNvPr id="20" name="TextBox 20"/>
          <p:cNvSpPr txBox="1"/>
          <p:nvPr/>
        </p:nvSpPr>
        <p:spPr>
          <a:xfrm>
            <a:off x="4406845" y="3732680"/>
            <a:ext cx="10219729" cy="743793"/>
          </a:xfrm>
          <a:prstGeom prst="rect">
            <a:avLst/>
          </a:prstGeom>
        </p:spPr>
        <p:txBody>
          <a:bodyPr lIns="0" tIns="0" rIns="0" bIns="0" rtlCol="0" anchor="t">
            <a:spAutoFit/>
          </a:bodyPr>
          <a:lstStyle/>
          <a:p>
            <a:pPr algn="r" rtl="1">
              <a:lnSpc>
                <a:spcPts val="2898"/>
              </a:lnSpc>
            </a:pPr>
            <a:r>
              <a:rPr lang="ar-EG" sz="2400" dirty="0">
                <a:solidFill>
                  <a:srgbClr val="FFFFFF"/>
                </a:solidFill>
                <a:latin typeface="Arial Rounded MT Bold" panose="020F0704030504030204" pitchFamily="34" charset="0"/>
                <a:ea typeface="B612"/>
                <a:cs typeface="+mj-cs"/>
                <a:sym typeface="B612"/>
                <a:rtl/>
              </a:rPr>
              <a:t>استخراج 57 خاصية مثل </a:t>
            </a:r>
            <a:r>
              <a:rPr lang="en-US" sz="2400" dirty="0">
                <a:solidFill>
                  <a:srgbClr val="FFFFFF"/>
                </a:solidFill>
                <a:latin typeface="Microsoft YaHei Light" panose="020B0502040204020203" pitchFamily="34" charset="-122"/>
                <a:ea typeface="Microsoft YaHei Light" panose="020B0502040204020203" pitchFamily="34" charset="-122"/>
                <a:cs typeface="+mj-cs"/>
                <a:sym typeface="B612"/>
                <a:rtl/>
              </a:rPr>
              <a:t>MFCCs</a:t>
            </a:r>
            <a:r>
              <a:rPr lang="en-US" sz="2400" dirty="0">
                <a:solidFill>
                  <a:srgbClr val="FFFFFF"/>
                </a:solidFill>
                <a:latin typeface="Arial Rounded MT Bold" panose="020F0704030504030204" pitchFamily="34" charset="0"/>
                <a:ea typeface="B612"/>
                <a:cs typeface="+mj-cs"/>
                <a:sym typeface="B612"/>
                <a:rtl/>
              </a:rPr>
              <a:t>، </a:t>
            </a:r>
            <a:r>
              <a:rPr lang="ar-EG" sz="2400" dirty="0">
                <a:solidFill>
                  <a:srgbClr val="FFFFFF"/>
                </a:solidFill>
                <a:latin typeface="Arial Rounded MT Bold" panose="020F0704030504030204" pitchFamily="34" charset="0"/>
                <a:ea typeface="B612"/>
                <a:cs typeface="+mj-cs"/>
                <a:sym typeface="B612"/>
                <a:rtl/>
              </a:rPr>
              <a:t>الطيف الصوتي، والنغمات.</a:t>
            </a:r>
          </a:p>
          <a:p>
            <a:pPr algn="r" rtl="1">
              <a:lnSpc>
                <a:spcPts val="2898"/>
              </a:lnSpc>
            </a:pPr>
            <a:r>
              <a:rPr lang="ar-EG" sz="2400" dirty="0">
                <a:solidFill>
                  <a:srgbClr val="FFFFFF"/>
                </a:solidFill>
                <a:latin typeface="Arial Rounded MT Bold" panose="020F0704030504030204" pitchFamily="34" charset="0"/>
                <a:ea typeface="B612"/>
                <a:cs typeface="+mj-cs"/>
                <a:sym typeface="B612"/>
                <a:rtl/>
              </a:rPr>
              <a:t>تخزين البيانات في ملف </a:t>
            </a:r>
            <a:r>
              <a:rPr lang="en-US" sz="2400" dirty="0">
                <a:solidFill>
                  <a:srgbClr val="FFFFFF"/>
                </a:solidFill>
                <a:latin typeface="Microsoft YaHei Light" panose="020B0502040204020203" pitchFamily="34" charset="-122"/>
                <a:ea typeface="Microsoft YaHei Light" panose="020B0502040204020203" pitchFamily="34" charset="-122"/>
                <a:cs typeface="+mj-cs"/>
                <a:sym typeface="B612"/>
                <a:rtl/>
              </a:rPr>
              <a:t>Excel</a:t>
            </a:r>
            <a:endPar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endParaRPr>
          </a:p>
        </p:txBody>
      </p:sp>
      <p:sp>
        <p:nvSpPr>
          <p:cNvPr id="22" name="TextBox 22"/>
          <p:cNvSpPr txBox="1"/>
          <p:nvPr/>
        </p:nvSpPr>
        <p:spPr>
          <a:xfrm>
            <a:off x="4700253" y="6053006"/>
            <a:ext cx="9953365" cy="719621"/>
          </a:xfrm>
          <a:prstGeom prst="rect">
            <a:avLst/>
          </a:prstGeom>
        </p:spPr>
        <p:txBody>
          <a:bodyPr lIns="0" tIns="0" rIns="0" bIns="0" rtlCol="0" anchor="t">
            <a:spAutoFit/>
          </a:bodyPr>
          <a:lstStyle/>
          <a:p>
            <a:pPr algn="r" rtl="1">
              <a:lnSpc>
                <a:spcPts val="2898"/>
              </a:lnSpc>
            </a:pPr>
            <a:r>
              <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rPr>
              <a:t>استخراج </a:t>
            </a:r>
            <a:r>
              <a:rPr lang="en-US" sz="2400" dirty="0">
                <a:solidFill>
                  <a:srgbClr val="FFFFFF"/>
                </a:solidFill>
                <a:latin typeface="Microsoft YaHei Light" panose="020B0502040204020203" pitchFamily="34" charset="-122"/>
                <a:ea typeface="Microsoft YaHei Light" panose="020B0502040204020203" pitchFamily="34" charset="-122"/>
                <a:cs typeface="+mj-cs"/>
                <a:sym typeface="B612"/>
                <a:rtl/>
              </a:rPr>
              <a:t>Spectrogram، MFCCs، </a:t>
            </a:r>
            <a:r>
              <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rPr>
              <a:t>و</a:t>
            </a:r>
            <a:r>
              <a:rPr lang="en-US" sz="2400" dirty="0">
                <a:solidFill>
                  <a:srgbClr val="FFFFFF"/>
                </a:solidFill>
                <a:latin typeface="Microsoft YaHei Light" panose="020B0502040204020203" pitchFamily="34" charset="-122"/>
                <a:ea typeface="Microsoft YaHei Light" panose="020B0502040204020203" pitchFamily="34" charset="-122"/>
                <a:cs typeface="+mj-cs"/>
                <a:sym typeface="B612"/>
                <a:rtl/>
              </a:rPr>
              <a:t>Mel-Spectrogram</a:t>
            </a:r>
          </a:p>
          <a:p>
            <a:pPr algn="r" rtl="1">
              <a:lnSpc>
                <a:spcPts val="2898"/>
              </a:lnSpc>
            </a:pPr>
            <a:r>
              <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rPr>
              <a:t>تخزين البيانات في ملف </a:t>
            </a:r>
            <a:r>
              <a:rPr lang="en-US" sz="2400" dirty="0">
                <a:solidFill>
                  <a:srgbClr val="FFFFFF"/>
                </a:solidFill>
                <a:latin typeface="Microsoft YaHei Light" panose="020B0502040204020203" pitchFamily="34" charset="-122"/>
                <a:ea typeface="Microsoft YaHei Light" panose="020B0502040204020203" pitchFamily="34" charset="-122"/>
                <a:cs typeface="+mj-cs"/>
                <a:sym typeface="B612"/>
                <a:rtl/>
              </a:rPr>
              <a:t>npz</a:t>
            </a:r>
            <a:endPar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endParaRPr>
          </a:p>
        </p:txBody>
      </p:sp>
      <p:sp>
        <p:nvSpPr>
          <p:cNvPr id="23" name="TextBox 23"/>
          <p:cNvSpPr txBox="1"/>
          <p:nvPr/>
        </p:nvSpPr>
        <p:spPr>
          <a:xfrm>
            <a:off x="11430459" y="3019655"/>
            <a:ext cx="3196115" cy="426527"/>
          </a:xfrm>
          <a:prstGeom prst="rect">
            <a:avLst/>
          </a:prstGeom>
        </p:spPr>
        <p:txBody>
          <a:bodyPr lIns="0" tIns="0" rIns="0" bIns="0" rtlCol="0" anchor="t">
            <a:spAutoFit/>
          </a:bodyPr>
          <a:lstStyle/>
          <a:p>
            <a:pPr algn="r" rtl="1">
              <a:lnSpc>
                <a:spcPts val="3596"/>
              </a:lnSpc>
            </a:pPr>
            <a:r>
              <a:rPr lang="ar-EG" sz="2569" b="1" dirty="0">
                <a:solidFill>
                  <a:srgbClr val="FFFFFF"/>
                </a:solidFill>
                <a:latin typeface="Microsoft YaHei Light" panose="020B0502040204020203" pitchFamily="34" charset="-122"/>
                <a:ea typeface="Microsoft YaHei Light" panose="020B0502040204020203" pitchFamily="34" charset="-122"/>
                <a:cs typeface="+mj-cs"/>
                <a:sym typeface="B612 Bold"/>
                <a:rtl/>
              </a:rPr>
              <a:t>للبيانات </a:t>
            </a:r>
            <a:r>
              <a:rPr lang="en-US" sz="2569" b="1" dirty="0">
                <a:solidFill>
                  <a:srgbClr val="FFFFFF"/>
                </a:solidFill>
                <a:latin typeface="Microsoft YaHei Light" panose="020B0502040204020203" pitchFamily="34" charset="-122"/>
                <a:ea typeface="Microsoft YaHei Light" panose="020B0502040204020203" pitchFamily="34" charset="-122"/>
                <a:cs typeface="+mj-cs"/>
                <a:sym typeface="B612 Bold"/>
                <a:rtl/>
              </a:rPr>
              <a:t>D</a:t>
            </a:r>
            <a:r>
              <a:rPr lang="ar-EG" sz="2569" b="1" dirty="0">
                <a:solidFill>
                  <a:srgbClr val="FFFFFF"/>
                </a:solidFill>
                <a:latin typeface="Microsoft YaHei Light" panose="020B0502040204020203" pitchFamily="34" charset="-122"/>
                <a:ea typeface="Microsoft YaHei Light" panose="020B0502040204020203" pitchFamily="34" charset="-122"/>
                <a:cs typeface="+mj-cs"/>
                <a:sym typeface="B612 Bold"/>
                <a:rtl/>
              </a:rPr>
              <a:t>1</a:t>
            </a:r>
            <a:endParaRPr lang="en-US" sz="2569" b="1" dirty="0">
              <a:solidFill>
                <a:srgbClr val="FFFFFF"/>
              </a:solidFill>
              <a:latin typeface="Microsoft YaHei Light" panose="020B0502040204020203" pitchFamily="34" charset="-122"/>
              <a:ea typeface="Microsoft YaHei Light" panose="020B0502040204020203" pitchFamily="34" charset="-122"/>
              <a:cs typeface="+mj-cs"/>
              <a:sym typeface="B612 Bold"/>
              <a:rtl/>
            </a:endParaRPr>
          </a:p>
        </p:txBody>
      </p:sp>
      <p:sp>
        <p:nvSpPr>
          <p:cNvPr id="25" name="TextBox 25"/>
          <p:cNvSpPr txBox="1"/>
          <p:nvPr/>
        </p:nvSpPr>
        <p:spPr>
          <a:xfrm>
            <a:off x="11430458" y="5484660"/>
            <a:ext cx="3196115" cy="386644"/>
          </a:xfrm>
          <a:prstGeom prst="rect">
            <a:avLst/>
          </a:prstGeom>
        </p:spPr>
        <p:txBody>
          <a:bodyPr lIns="0" tIns="0" rIns="0" bIns="0" rtlCol="0" anchor="t">
            <a:spAutoFit/>
          </a:bodyPr>
          <a:lstStyle/>
          <a:p>
            <a:pPr algn="r" rtl="1">
              <a:lnSpc>
                <a:spcPts val="2898"/>
              </a:lnSpc>
            </a:pPr>
            <a:r>
              <a:rPr lang="ar-EG" sz="2800" b="1" dirty="0">
                <a:solidFill>
                  <a:srgbClr val="FFFFFF"/>
                </a:solidFill>
                <a:latin typeface="B612"/>
                <a:ea typeface="B612"/>
                <a:cs typeface="+mj-cs"/>
                <a:sym typeface="B612"/>
                <a:rtl/>
              </a:rPr>
              <a:t>للبيانات</a:t>
            </a:r>
            <a:r>
              <a:rPr lang="ar-EG" sz="2800" dirty="0">
                <a:solidFill>
                  <a:srgbClr val="FFFFFF"/>
                </a:solidFill>
                <a:latin typeface="B612"/>
                <a:ea typeface="B612"/>
                <a:cs typeface="+mj-cs"/>
                <a:sym typeface="B612"/>
                <a:rtl/>
              </a:rPr>
              <a:t> </a:t>
            </a:r>
            <a:r>
              <a:rPr lang="en-US" sz="2800" b="1" dirty="0">
                <a:solidFill>
                  <a:srgbClr val="FFFFFF"/>
                </a:solidFill>
                <a:latin typeface="Microsoft YaHei Light" panose="020B0502040204020203" pitchFamily="34" charset="-122"/>
                <a:ea typeface="Microsoft YaHei Light" panose="020B0502040204020203" pitchFamily="34" charset="-122"/>
                <a:cs typeface="+mj-cs"/>
                <a:sym typeface="B612"/>
                <a:rtl/>
              </a:rPr>
              <a:t>2D</a:t>
            </a:r>
          </a:p>
        </p:txBody>
      </p:sp>
      <p:sp>
        <p:nvSpPr>
          <p:cNvPr id="26" name="TextBox 26"/>
          <p:cNvSpPr txBox="1"/>
          <p:nvPr/>
        </p:nvSpPr>
        <p:spPr>
          <a:xfrm>
            <a:off x="15435050" y="3232918"/>
            <a:ext cx="850404" cy="605037"/>
          </a:xfrm>
          <a:prstGeom prst="rect">
            <a:avLst/>
          </a:prstGeom>
        </p:spPr>
        <p:txBody>
          <a:bodyPr lIns="0" tIns="0" rIns="0" bIns="0" rtlCol="0" anchor="t">
            <a:spAutoFit/>
          </a:bodyPr>
          <a:lstStyle/>
          <a:p>
            <a:pPr algn="ctr">
              <a:lnSpc>
                <a:spcPts val="4867"/>
              </a:lnSpc>
            </a:pPr>
            <a:r>
              <a:rPr lang="en-US" sz="3476" b="1" dirty="0">
                <a:solidFill>
                  <a:schemeClr val="accent6">
                    <a:lumMod val="40000"/>
                    <a:lumOff val="60000"/>
                  </a:schemeClr>
                </a:solidFill>
                <a:latin typeface="B612 Bold"/>
                <a:ea typeface="B612 Bold"/>
                <a:cs typeface="+mj-cs"/>
                <a:sym typeface="B612 Bold"/>
              </a:rPr>
              <a:t>1</a:t>
            </a:r>
          </a:p>
        </p:txBody>
      </p:sp>
      <p:sp>
        <p:nvSpPr>
          <p:cNvPr id="28" name="TextBox 28"/>
          <p:cNvSpPr txBox="1"/>
          <p:nvPr/>
        </p:nvSpPr>
        <p:spPr>
          <a:xfrm>
            <a:off x="15435050" y="5844009"/>
            <a:ext cx="850404" cy="605037"/>
          </a:xfrm>
          <a:prstGeom prst="rect">
            <a:avLst/>
          </a:prstGeom>
        </p:spPr>
        <p:txBody>
          <a:bodyPr lIns="0" tIns="0" rIns="0" bIns="0" rtlCol="0" anchor="t">
            <a:spAutoFit/>
          </a:bodyPr>
          <a:lstStyle/>
          <a:p>
            <a:pPr algn="ctr">
              <a:lnSpc>
                <a:spcPts val="4867"/>
              </a:lnSpc>
            </a:pPr>
            <a:r>
              <a:rPr lang="en-US" sz="3476" b="1" dirty="0">
                <a:solidFill>
                  <a:schemeClr val="accent6">
                    <a:lumMod val="40000"/>
                    <a:lumOff val="60000"/>
                  </a:schemeClr>
                </a:solidFill>
                <a:latin typeface="B612 Bold"/>
                <a:ea typeface="B612 Bold"/>
                <a:cs typeface="+mj-cs"/>
                <a:sym typeface="B612 Bold"/>
              </a:rPr>
              <a:t>2</a:t>
            </a:r>
          </a:p>
        </p:txBody>
      </p:sp>
      <p:sp>
        <p:nvSpPr>
          <p:cNvPr id="29" name="TextBox 29"/>
          <p:cNvSpPr txBox="1"/>
          <p:nvPr/>
        </p:nvSpPr>
        <p:spPr>
          <a:xfrm>
            <a:off x="6522345" y="1550369"/>
            <a:ext cx="5243309" cy="620363"/>
          </a:xfrm>
          <a:prstGeom prst="rect">
            <a:avLst/>
          </a:prstGeom>
        </p:spPr>
        <p:txBody>
          <a:bodyPr wrap="square" lIns="0" tIns="0" rIns="0" bIns="0" rtlCol="0" anchor="t">
            <a:spAutoFit/>
          </a:bodyPr>
          <a:lstStyle/>
          <a:p>
            <a:pPr algn="ctr" rtl="1">
              <a:lnSpc>
                <a:spcPts val="5163"/>
              </a:lnSpc>
              <a:spcBef>
                <a:spcPct val="0"/>
              </a:spcBef>
            </a:pPr>
            <a:r>
              <a:rPr lang="ar-SY" sz="4000" b="1" dirty="0">
                <a:solidFill>
                  <a:srgbClr val="FFFFFF"/>
                </a:solidFill>
                <a:latin typeface="Arial" panose="020B0604020202020204" pitchFamily="34" charset="0"/>
                <a:ea typeface="B612 Bold"/>
                <a:cs typeface="+mj-cs"/>
                <a:sym typeface="B612 Bold"/>
                <a:rtl/>
              </a:rPr>
              <a:t>استخراج الخصائص الصوتية</a:t>
            </a:r>
            <a:endParaRPr lang="ar-EG" sz="4000" b="1" dirty="0">
              <a:solidFill>
                <a:srgbClr val="FFFFFF"/>
              </a:solidFill>
              <a:latin typeface="Arial" panose="020B0604020202020204" pitchFamily="34" charset="0"/>
              <a:ea typeface="B612 Bold"/>
              <a:cs typeface="+mj-cs"/>
              <a:sym typeface="B612 Bold"/>
              <a:rtl/>
            </a:endParaRPr>
          </a:p>
        </p:txBody>
      </p:sp>
      <p:sp>
        <p:nvSpPr>
          <p:cNvPr id="24" name="TextBox 11">
            <a:extLst>
              <a:ext uri="{FF2B5EF4-FFF2-40B4-BE49-F238E27FC236}">
                <a16:creationId xmlns:a16="http://schemas.microsoft.com/office/drawing/2014/main" id="{CA91C0D1-6AD9-40F9-8726-575F6AC20176}"/>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pic>
        <p:nvPicPr>
          <p:cNvPr id="27" name="Picture Placeholder 27">
            <a:extLst>
              <a:ext uri="{FF2B5EF4-FFF2-40B4-BE49-F238E27FC236}">
                <a16:creationId xmlns:a16="http://schemas.microsoft.com/office/drawing/2014/main" id="{B746A775-E65C-70F6-9DB4-E51F7F2DAECE}"/>
              </a:ext>
            </a:extLst>
          </p:cNvPr>
          <p:cNvPicPr>
            <a:picLocks noGrp="1" noChangeAspect="1"/>
          </p:cNvPicPr>
          <p:nvPr/>
        </p:nvPicPr>
        <p:blipFill>
          <a:blip r:embed="rId3"/>
          <a:srcRect/>
          <a:stretch/>
        </p:blipFill>
        <p:spPr>
          <a:xfrm>
            <a:off x="1520615" y="3558302"/>
            <a:ext cx="2931155" cy="2931155"/>
          </a:xfrm>
          <a:prstGeom prst="hexagon">
            <a:avLst>
              <a:gd name="adj" fmla="val 28349"/>
              <a:gd name="vf" fmla="val 115470"/>
            </a:avLst>
          </a:prstGeom>
          <a:ln w="1270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cs typeface="+mj-cs"/>
            </a:endParaRPr>
          </a:p>
        </p:txBody>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grpSp>
        <p:nvGrpSpPr>
          <p:cNvPr id="7" name="Group 7"/>
          <p:cNvGrpSpPr/>
          <p:nvPr/>
        </p:nvGrpSpPr>
        <p:grpSpPr>
          <a:xfrm>
            <a:off x="3405382" y="3061498"/>
            <a:ext cx="11698393" cy="2415595"/>
            <a:chOff x="0" y="0"/>
            <a:chExt cx="3931796" cy="519818"/>
          </a:xfrm>
        </p:grpSpPr>
        <p:sp>
          <p:nvSpPr>
            <p:cNvPr id="8" name="Freeform 8"/>
            <p:cNvSpPr/>
            <p:nvPr/>
          </p:nvSpPr>
          <p:spPr>
            <a:xfrm>
              <a:off x="0" y="0"/>
              <a:ext cx="3931796" cy="519818"/>
            </a:xfrm>
            <a:custGeom>
              <a:avLst/>
              <a:gdLst/>
              <a:ahLst/>
              <a:cxnLst/>
              <a:rect l="l" t="t" r="r" b="b"/>
              <a:pathLst>
                <a:path w="3931796" h="519818">
                  <a:moveTo>
                    <a:pt x="11250" y="0"/>
                  </a:moveTo>
                  <a:lnTo>
                    <a:pt x="3920546" y="0"/>
                  </a:lnTo>
                  <a:cubicBezTo>
                    <a:pt x="3923530" y="0"/>
                    <a:pt x="3926391" y="1185"/>
                    <a:pt x="3928501" y="3295"/>
                  </a:cubicBezTo>
                  <a:cubicBezTo>
                    <a:pt x="3930611" y="5405"/>
                    <a:pt x="3931796" y="8267"/>
                    <a:pt x="3931796" y="11250"/>
                  </a:cubicBezTo>
                  <a:lnTo>
                    <a:pt x="3931796" y="508567"/>
                  </a:lnTo>
                  <a:cubicBezTo>
                    <a:pt x="3931796" y="511551"/>
                    <a:pt x="3930611" y="514413"/>
                    <a:pt x="3928501" y="516522"/>
                  </a:cubicBezTo>
                  <a:cubicBezTo>
                    <a:pt x="3926391" y="518632"/>
                    <a:pt x="3923530" y="519818"/>
                    <a:pt x="3920546" y="519818"/>
                  </a:cubicBezTo>
                  <a:lnTo>
                    <a:pt x="11250" y="519818"/>
                  </a:lnTo>
                  <a:cubicBezTo>
                    <a:pt x="8267" y="519818"/>
                    <a:pt x="5405" y="518632"/>
                    <a:pt x="3295" y="516522"/>
                  </a:cubicBezTo>
                  <a:cubicBezTo>
                    <a:pt x="1185" y="514413"/>
                    <a:pt x="0" y="511551"/>
                    <a:pt x="0" y="508567"/>
                  </a:cubicBezTo>
                  <a:lnTo>
                    <a:pt x="0" y="11250"/>
                  </a:lnTo>
                  <a:cubicBezTo>
                    <a:pt x="0" y="8267"/>
                    <a:pt x="1185" y="5405"/>
                    <a:pt x="3295" y="3295"/>
                  </a:cubicBezTo>
                  <a:cubicBezTo>
                    <a:pt x="5405" y="1185"/>
                    <a:pt x="8267" y="0"/>
                    <a:pt x="11250" y="0"/>
                  </a:cubicBezTo>
                  <a:close/>
                </a:path>
              </a:pathLst>
            </a:custGeom>
            <a:solidFill>
              <a:srgbClr val="FFFFFF">
                <a:alpha val="15686"/>
              </a:srgbClr>
            </a:solidFill>
            <a:ln cap="sq">
              <a:noFill/>
              <a:prstDash val="solid"/>
              <a:miter/>
            </a:ln>
          </p:spPr>
        </p:sp>
        <p:sp>
          <p:nvSpPr>
            <p:cNvPr id="9" name="TextBox 9"/>
            <p:cNvSpPr txBox="1"/>
            <p:nvPr/>
          </p:nvSpPr>
          <p:spPr>
            <a:xfrm>
              <a:off x="0" y="-47625"/>
              <a:ext cx="3931796" cy="567443"/>
            </a:xfrm>
            <a:prstGeom prst="rect">
              <a:avLst/>
            </a:prstGeom>
          </p:spPr>
          <p:txBody>
            <a:bodyPr lIns="50800" tIns="50800" rIns="50800" bIns="50800" rtlCol="0" anchor="ctr"/>
            <a:lstStyle/>
            <a:p>
              <a:pPr algn="ctr">
                <a:lnSpc>
                  <a:spcPts val="3146"/>
                </a:lnSpc>
              </a:pPr>
              <a:endParaRPr>
                <a:cs typeface="+mj-cs"/>
              </a:endParaRPr>
            </a:p>
          </p:txBody>
        </p:sp>
      </p:grpSp>
      <p:grpSp>
        <p:nvGrpSpPr>
          <p:cNvPr id="10" name="Group 10"/>
          <p:cNvGrpSpPr/>
          <p:nvPr/>
        </p:nvGrpSpPr>
        <p:grpSpPr>
          <a:xfrm>
            <a:off x="3365564" y="6240093"/>
            <a:ext cx="11744803" cy="2415595"/>
            <a:chOff x="0" y="0"/>
            <a:chExt cx="3947394" cy="519818"/>
          </a:xfrm>
        </p:grpSpPr>
        <p:sp>
          <p:nvSpPr>
            <p:cNvPr id="11" name="Freeform 11"/>
            <p:cNvSpPr/>
            <p:nvPr/>
          </p:nvSpPr>
          <p:spPr>
            <a:xfrm>
              <a:off x="0" y="0"/>
              <a:ext cx="3947394" cy="519818"/>
            </a:xfrm>
            <a:custGeom>
              <a:avLst/>
              <a:gdLst/>
              <a:ahLst/>
              <a:cxnLst/>
              <a:rect l="l" t="t" r="r" b="b"/>
              <a:pathLst>
                <a:path w="3947394" h="519818">
                  <a:moveTo>
                    <a:pt x="11206" y="0"/>
                  </a:moveTo>
                  <a:lnTo>
                    <a:pt x="3936188" y="0"/>
                  </a:lnTo>
                  <a:cubicBezTo>
                    <a:pt x="3939160" y="0"/>
                    <a:pt x="3942011" y="1181"/>
                    <a:pt x="3944112" y="3282"/>
                  </a:cubicBezTo>
                  <a:cubicBezTo>
                    <a:pt x="3946214" y="5384"/>
                    <a:pt x="3947394" y="8234"/>
                    <a:pt x="3947394" y="11206"/>
                  </a:cubicBezTo>
                  <a:lnTo>
                    <a:pt x="3947394" y="508612"/>
                  </a:lnTo>
                  <a:cubicBezTo>
                    <a:pt x="3947394" y="514801"/>
                    <a:pt x="3942377" y="519818"/>
                    <a:pt x="3936188" y="519818"/>
                  </a:cubicBezTo>
                  <a:lnTo>
                    <a:pt x="11206" y="519818"/>
                  </a:lnTo>
                  <a:cubicBezTo>
                    <a:pt x="5017" y="519818"/>
                    <a:pt x="0" y="514801"/>
                    <a:pt x="0" y="508612"/>
                  </a:cubicBezTo>
                  <a:lnTo>
                    <a:pt x="0" y="11206"/>
                  </a:lnTo>
                  <a:cubicBezTo>
                    <a:pt x="0" y="5017"/>
                    <a:pt x="5017" y="0"/>
                    <a:pt x="11206" y="0"/>
                  </a:cubicBezTo>
                  <a:close/>
                </a:path>
              </a:pathLst>
            </a:custGeom>
            <a:solidFill>
              <a:srgbClr val="FFFFFF">
                <a:alpha val="15686"/>
              </a:srgbClr>
            </a:solidFill>
            <a:ln cap="sq">
              <a:noFill/>
              <a:prstDash val="solid"/>
              <a:miter/>
            </a:ln>
          </p:spPr>
        </p:sp>
        <p:sp>
          <p:nvSpPr>
            <p:cNvPr id="12" name="TextBox 12"/>
            <p:cNvSpPr txBox="1"/>
            <p:nvPr/>
          </p:nvSpPr>
          <p:spPr>
            <a:xfrm>
              <a:off x="0" y="-47625"/>
              <a:ext cx="3947394" cy="567443"/>
            </a:xfrm>
            <a:prstGeom prst="rect">
              <a:avLst/>
            </a:prstGeom>
          </p:spPr>
          <p:txBody>
            <a:bodyPr lIns="50800" tIns="50800" rIns="50800" bIns="50800" rtlCol="0" anchor="ctr"/>
            <a:lstStyle/>
            <a:p>
              <a:pPr algn="ctr">
                <a:lnSpc>
                  <a:spcPts val="3146"/>
                </a:lnSpc>
              </a:pPr>
              <a:endParaRPr>
                <a:cs typeface="+mj-cs"/>
              </a:endParaRPr>
            </a:p>
          </p:txBody>
        </p:sp>
      </p:grpSp>
      <p:sp>
        <p:nvSpPr>
          <p:cNvPr id="16" name="TextBox 16"/>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MMCS</a:t>
            </a:r>
          </a:p>
        </p:txBody>
      </p:sp>
      <p:sp>
        <p:nvSpPr>
          <p:cNvPr id="19" name="TextBox 19"/>
          <p:cNvSpPr txBox="1"/>
          <p:nvPr/>
        </p:nvSpPr>
        <p:spPr>
          <a:xfrm>
            <a:off x="1871973" y="8529606"/>
            <a:ext cx="1512641"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Page 9</a:t>
            </a:r>
          </a:p>
        </p:txBody>
      </p:sp>
      <p:sp>
        <p:nvSpPr>
          <p:cNvPr id="20" name="TextBox 20"/>
          <p:cNvSpPr txBox="1"/>
          <p:nvPr/>
        </p:nvSpPr>
        <p:spPr>
          <a:xfrm>
            <a:off x="4492713" y="3777788"/>
            <a:ext cx="10219729" cy="1463414"/>
          </a:xfrm>
          <a:prstGeom prst="rect">
            <a:avLst/>
          </a:prstGeom>
        </p:spPr>
        <p:txBody>
          <a:bodyPr lIns="0" tIns="0" rIns="0" bIns="0" rtlCol="0" anchor="t">
            <a:spAutoFit/>
          </a:bodyPr>
          <a:lstStyle/>
          <a:p>
            <a:pPr algn="r" rtl="1">
              <a:lnSpc>
                <a:spcPts val="2898"/>
              </a:lnSpc>
            </a:pPr>
            <a:r>
              <a:rPr lang="ar-EG" sz="2400" dirty="0">
                <a:solidFill>
                  <a:srgbClr val="FFFFFF"/>
                </a:solidFill>
                <a:latin typeface="Microsoft YaHei Light" panose="020B0502040204020203" pitchFamily="34" charset="-122"/>
                <a:ea typeface="Microsoft YaHei Light" panose="020B0502040204020203" pitchFamily="34" charset="-122"/>
                <a:sym typeface="B612"/>
                <a:rtl/>
              </a:rPr>
              <a:t>يتكون من 5 طبقات:</a:t>
            </a:r>
          </a:p>
          <a:p>
            <a:pPr algn="r" rtl="1">
              <a:lnSpc>
                <a:spcPts val="2898"/>
              </a:lnSpc>
            </a:pPr>
            <a:r>
              <a:rPr lang="ar-EG" sz="2400" dirty="0">
                <a:solidFill>
                  <a:srgbClr val="FFFFFF"/>
                </a:solidFill>
                <a:latin typeface="Microsoft YaHei Light" panose="020B0502040204020203" pitchFamily="34" charset="-122"/>
                <a:ea typeface="Microsoft YaHei Light" panose="020B0502040204020203" pitchFamily="34" charset="-122"/>
                <a:cs typeface="+mj-cs"/>
                <a:sym typeface="B612"/>
                <a:rtl/>
              </a:rPr>
              <a:t>3</a:t>
            </a:r>
            <a:r>
              <a:rPr lang="ar-EG" sz="2400" dirty="0">
                <a:solidFill>
                  <a:srgbClr val="FFFFFF"/>
                </a:solidFill>
                <a:latin typeface="Microsoft YaHei Light" panose="020B0502040204020203" pitchFamily="34" charset="-122"/>
                <a:ea typeface="Microsoft YaHei Light" panose="020B0502040204020203" pitchFamily="34" charset="-122"/>
                <a:sym typeface="B612"/>
                <a:rtl/>
              </a:rPr>
              <a:t> طبقات</a:t>
            </a:r>
            <a:r>
              <a:rPr lang="en-US" sz="2400" dirty="0">
                <a:solidFill>
                  <a:srgbClr val="FFFFFF"/>
                </a:solidFill>
                <a:latin typeface="Microsoft YaHei Light" panose="020B0502040204020203" pitchFamily="34" charset="-122"/>
                <a:ea typeface="Microsoft YaHei Light" panose="020B0502040204020203" pitchFamily="34" charset="-122"/>
                <a:sym typeface="B612"/>
                <a:rtl/>
              </a:rPr>
              <a:t>Conv1D </a:t>
            </a:r>
            <a:r>
              <a:rPr lang="ar-SY" sz="2400" dirty="0">
                <a:solidFill>
                  <a:srgbClr val="FFFFFF"/>
                </a:solidFill>
                <a:latin typeface="Microsoft YaHei Light" panose="020B0502040204020203" pitchFamily="34" charset="-122"/>
                <a:ea typeface="Microsoft YaHei Light" panose="020B0502040204020203" pitchFamily="34" charset="-122"/>
                <a:sym typeface="B612"/>
                <a:rtl/>
              </a:rPr>
              <a:t>  و </a:t>
            </a:r>
            <a:r>
              <a:rPr lang="en-US" sz="2400" dirty="0">
                <a:solidFill>
                  <a:srgbClr val="FFFFFF"/>
                </a:solidFill>
                <a:latin typeface="Microsoft YaHei Light" panose="020B0502040204020203" pitchFamily="34" charset="-122"/>
                <a:ea typeface="Microsoft YaHei Light" panose="020B0502040204020203" pitchFamily="34" charset="-122"/>
                <a:sym typeface="B612"/>
                <a:rtl/>
              </a:rPr>
              <a:t>MaxPooling</a:t>
            </a:r>
          </a:p>
          <a:p>
            <a:pPr algn="r" rtl="1">
              <a:lnSpc>
                <a:spcPts val="2898"/>
              </a:lnSpc>
            </a:pPr>
            <a:r>
              <a:rPr lang="en-US" sz="2400" dirty="0">
                <a:solidFill>
                  <a:srgbClr val="FFFFFF"/>
                </a:solidFill>
                <a:latin typeface="Microsoft YaHei Light" panose="020B0502040204020203" pitchFamily="34" charset="-122"/>
                <a:ea typeface="Microsoft YaHei Light" panose="020B0502040204020203" pitchFamily="34" charset="-122"/>
                <a:sym typeface="B612"/>
                <a:rtl/>
              </a:rPr>
              <a:t> </a:t>
            </a:r>
            <a:r>
              <a:rPr lang="en-US" sz="2400"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sym typeface="B612"/>
                <a:rtl/>
              </a:rPr>
              <a:t>2</a:t>
            </a:r>
            <a:r>
              <a:rPr lang="ar-EG" sz="2400" dirty="0">
                <a:solidFill>
                  <a:srgbClr val="FFFFFF"/>
                </a:solidFill>
                <a:latin typeface="Microsoft YaHei Light" panose="020B0502040204020203" pitchFamily="34" charset="-122"/>
                <a:ea typeface="Microsoft YaHei Light" panose="020B0502040204020203" pitchFamily="34" charset="-122"/>
                <a:sym typeface="B612"/>
                <a:rtl/>
              </a:rPr>
              <a:t>طبقات </a:t>
            </a:r>
            <a:r>
              <a:rPr lang="en-US" sz="2400" dirty="0">
                <a:solidFill>
                  <a:srgbClr val="FFFFFF"/>
                </a:solidFill>
                <a:latin typeface="Microsoft YaHei Light" panose="020B0502040204020203" pitchFamily="34" charset="-122"/>
                <a:ea typeface="Microsoft YaHei Light" panose="020B0502040204020203" pitchFamily="34" charset="-122"/>
                <a:sym typeface="B612"/>
                <a:rtl/>
              </a:rPr>
              <a:t>Fully Connected</a:t>
            </a:r>
          </a:p>
          <a:p>
            <a:pPr algn="r" rtl="1">
              <a:lnSpc>
                <a:spcPts val="2898"/>
              </a:lnSpc>
            </a:pPr>
            <a:r>
              <a:rPr lang="ar-EG" sz="2400" dirty="0">
                <a:solidFill>
                  <a:srgbClr val="FFFFFF"/>
                </a:solidFill>
                <a:latin typeface="Microsoft YaHei Light" panose="020B0502040204020203" pitchFamily="34" charset="-122"/>
                <a:ea typeface="Microsoft YaHei Light" panose="020B0502040204020203" pitchFamily="34" charset="-122"/>
                <a:sym typeface="B612"/>
                <a:rtl/>
              </a:rPr>
              <a:t>حقق دقة تصنيف بلغت 91%.</a:t>
            </a:r>
          </a:p>
        </p:txBody>
      </p:sp>
      <p:sp>
        <p:nvSpPr>
          <p:cNvPr id="22" name="TextBox 22"/>
          <p:cNvSpPr txBox="1"/>
          <p:nvPr/>
        </p:nvSpPr>
        <p:spPr>
          <a:xfrm>
            <a:off x="4685318" y="6969442"/>
            <a:ext cx="9953365" cy="1463414"/>
          </a:xfrm>
          <a:prstGeom prst="rect">
            <a:avLst/>
          </a:prstGeom>
        </p:spPr>
        <p:txBody>
          <a:bodyPr lIns="0" tIns="0" rIns="0" bIns="0" rtlCol="0" anchor="t">
            <a:spAutoFit/>
          </a:bodyPr>
          <a:lstStyle/>
          <a:p>
            <a:pPr algn="r" rtl="1">
              <a:lnSpc>
                <a:spcPts val="2898"/>
              </a:lnSpc>
            </a:pPr>
            <a:r>
              <a:rPr lang="ar-EG" sz="2400" dirty="0">
                <a:solidFill>
                  <a:srgbClr val="FFFFFF"/>
                </a:solidFill>
                <a:latin typeface="Microsoft YaHei Light" panose="020B0502040204020203" pitchFamily="34" charset="-122"/>
                <a:ea typeface="Microsoft YaHei Light" panose="020B0502040204020203" pitchFamily="34" charset="-122"/>
                <a:sym typeface="B612"/>
                <a:rtl/>
              </a:rPr>
              <a:t>يتكون من 5 طبقات:</a:t>
            </a:r>
          </a:p>
          <a:p>
            <a:pPr algn="r" rtl="1">
              <a:lnSpc>
                <a:spcPts val="2898"/>
              </a:lnSpc>
            </a:pPr>
            <a:r>
              <a:rPr lang="ar-EG" sz="2400"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sym typeface="B612"/>
                <a:rtl/>
              </a:rPr>
              <a:t>3</a:t>
            </a:r>
            <a:r>
              <a:rPr lang="ar-EG" sz="2400" dirty="0">
                <a:solidFill>
                  <a:srgbClr val="FFFFFF"/>
                </a:solidFill>
                <a:latin typeface="Microsoft YaHei Light" panose="020B0502040204020203" pitchFamily="34" charset="-122"/>
                <a:ea typeface="Microsoft YaHei Light" panose="020B0502040204020203" pitchFamily="34" charset="-122"/>
                <a:sym typeface="B612"/>
                <a:rtl/>
              </a:rPr>
              <a:t> طبقات </a:t>
            </a:r>
            <a:r>
              <a:rPr lang="en-US" sz="2400" dirty="0">
                <a:solidFill>
                  <a:srgbClr val="FFFFFF"/>
                </a:solidFill>
                <a:latin typeface="Microsoft YaHei Light" panose="020B0502040204020203" pitchFamily="34" charset="-122"/>
                <a:ea typeface="Microsoft YaHei Light" panose="020B0502040204020203" pitchFamily="34" charset="-122"/>
                <a:sym typeface="B612"/>
                <a:rtl/>
              </a:rPr>
              <a:t>Conv2D </a:t>
            </a:r>
            <a:r>
              <a:rPr lang="ar-SY" sz="2400" dirty="0">
                <a:solidFill>
                  <a:srgbClr val="FFFFFF"/>
                </a:solidFill>
                <a:latin typeface="Microsoft YaHei Light" panose="020B0502040204020203" pitchFamily="34" charset="-122"/>
                <a:ea typeface="Microsoft YaHei Light" panose="020B0502040204020203" pitchFamily="34" charset="-122"/>
                <a:sym typeface="B612"/>
                <a:rtl/>
              </a:rPr>
              <a:t> </a:t>
            </a:r>
            <a:r>
              <a:rPr lang="ar-EG" sz="2400" dirty="0">
                <a:solidFill>
                  <a:srgbClr val="FFFFFF"/>
                </a:solidFill>
                <a:latin typeface="Microsoft YaHei Light" panose="020B0502040204020203" pitchFamily="34" charset="-122"/>
                <a:ea typeface="Microsoft YaHei Light" panose="020B0502040204020203" pitchFamily="34" charset="-122"/>
                <a:sym typeface="B612"/>
                <a:rtl/>
              </a:rPr>
              <a:t>و</a:t>
            </a:r>
            <a:r>
              <a:rPr lang="en-US" sz="2400" dirty="0">
                <a:solidFill>
                  <a:srgbClr val="FFFFFF"/>
                </a:solidFill>
                <a:latin typeface="Microsoft YaHei Light" panose="020B0502040204020203" pitchFamily="34" charset="-122"/>
                <a:ea typeface="Microsoft YaHei Light" panose="020B0502040204020203" pitchFamily="34" charset="-122"/>
                <a:sym typeface="B612"/>
                <a:rtl/>
              </a:rPr>
              <a:t>MaxPooling </a:t>
            </a:r>
          </a:p>
          <a:p>
            <a:pPr algn="r" rtl="1">
              <a:lnSpc>
                <a:spcPts val="2898"/>
              </a:lnSpc>
            </a:pPr>
            <a:r>
              <a:rPr lang="en-US" sz="2400"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sym typeface="B612"/>
                <a:rtl/>
              </a:rPr>
              <a:t> 2</a:t>
            </a:r>
            <a:r>
              <a:rPr lang="ar-EG" sz="2400" dirty="0">
                <a:solidFill>
                  <a:srgbClr val="FFFFFF"/>
                </a:solidFill>
                <a:latin typeface="Microsoft YaHei Light" panose="020B0502040204020203" pitchFamily="34" charset="-122"/>
                <a:ea typeface="Microsoft YaHei Light" panose="020B0502040204020203" pitchFamily="34" charset="-122"/>
                <a:sym typeface="B612"/>
                <a:rtl/>
              </a:rPr>
              <a:t>طبقات </a:t>
            </a:r>
            <a:r>
              <a:rPr lang="en-US" sz="2400" dirty="0">
                <a:solidFill>
                  <a:srgbClr val="FFFFFF"/>
                </a:solidFill>
                <a:latin typeface="Microsoft YaHei Light" panose="020B0502040204020203" pitchFamily="34" charset="-122"/>
                <a:ea typeface="Microsoft YaHei Light" panose="020B0502040204020203" pitchFamily="34" charset="-122"/>
                <a:sym typeface="B612"/>
                <a:rtl/>
              </a:rPr>
              <a:t>Fully Connected</a:t>
            </a:r>
          </a:p>
          <a:p>
            <a:pPr algn="r" rtl="1">
              <a:lnSpc>
                <a:spcPts val="2898"/>
              </a:lnSpc>
            </a:pPr>
            <a:r>
              <a:rPr lang="ar-EG" sz="2400" dirty="0">
                <a:solidFill>
                  <a:srgbClr val="FFFFFF"/>
                </a:solidFill>
                <a:latin typeface="Microsoft YaHei Light" panose="020B0502040204020203" pitchFamily="34" charset="-122"/>
                <a:ea typeface="Microsoft YaHei Light" panose="020B0502040204020203" pitchFamily="34" charset="-122"/>
                <a:sym typeface="B612"/>
                <a:rtl/>
              </a:rPr>
              <a:t>حقق دقة تصنيف بلغت 96%.</a:t>
            </a:r>
          </a:p>
        </p:txBody>
      </p:sp>
      <p:sp>
        <p:nvSpPr>
          <p:cNvPr id="23" name="TextBox 23"/>
          <p:cNvSpPr txBox="1"/>
          <p:nvPr/>
        </p:nvSpPr>
        <p:spPr>
          <a:xfrm>
            <a:off x="11442568" y="3166908"/>
            <a:ext cx="3196115" cy="422488"/>
          </a:xfrm>
          <a:prstGeom prst="rect">
            <a:avLst/>
          </a:prstGeom>
        </p:spPr>
        <p:txBody>
          <a:bodyPr lIns="0" tIns="0" rIns="0" bIns="0" rtlCol="0" anchor="t">
            <a:spAutoFit/>
          </a:bodyPr>
          <a:lstStyle/>
          <a:p>
            <a:pPr algn="r" rtl="1">
              <a:lnSpc>
                <a:spcPts val="3596"/>
              </a:lnSpc>
            </a:pPr>
            <a:r>
              <a:rPr lang="en-US" sz="2569" b="1" dirty="0">
                <a:solidFill>
                  <a:srgbClr val="FFFFFF"/>
                </a:solidFill>
                <a:latin typeface="Arial Rounded MT Bold" panose="020F0704030504030204" pitchFamily="34" charset="0"/>
                <a:ea typeface="B612 Bold"/>
                <a:cs typeface="+mj-cs"/>
                <a:sym typeface="B612 Bold"/>
                <a:rtl/>
              </a:rPr>
              <a:t> 1D Classifier</a:t>
            </a:r>
            <a:endParaRPr lang="ar-EG" sz="2569" b="1" dirty="0">
              <a:solidFill>
                <a:srgbClr val="FFFFFF"/>
              </a:solidFill>
              <a:latin typeface="Arial Rounded MT Bold" panose="020F0704030504030204" pitchFamily="34" charset="0"/>
              <a:ea typeface="B612 Bold"/>
              <a:cs typeface="+mj-cs"/>
              <a:sym typeface="B612 Bold"/>
              <a:rtl/>
            </a:endParaRPr>
          </a:p>
        </p:txBody>
      </p:sp>
      <p:sp>
        <p:nvSpPr>
          <p:cNvPr id="25" name="TextBox 25"/>
          <p:cNvSpPr txBox="1"/>
          <p:nvPr/>
        </p:nvSpPr>
        <p:spPr>
          <a:xfrm>
            <a:off x="11425697" y="6428003"/>
            <a:ext cx="3196115" cy="422488"/>
          </a:xfrm>
          <a:prstGeom prst="rect">
            <a:avLst/>
          </a:prstGeom>
        </p:spPr>
        <p:txBody>
          <a:bodyPr lIns="0" tIns="0" rIns="0" bIns="0" rtlCol="0" anchor="t">
            <a:spAutoFit/>
          </a:bodyPr>
          <a:lstStyle/>
          <a:p>
            <a:pPr algn="r" rtl="1">
              <a:lnSpc>
                <a:spcPts val="3596"/>
              </a:lnSpc>
            </a:pPr>
            <a:r>
              <a:rPr lang="en-US" sz="2569" b="1" dirty="0">
                <a:solidFill>
                  <a:srgbClr val="FFFFFF"/>
                </a:solidFill>
                <a:latin typeface="Arial Rounded MT Bold" panose="020F0704030504030204" pitchFamily="34" charset="0"/>
                <a:ea typeface="B612 Bold"/>
                <a:cs typeface="+mj-cs"/>
                <a:sym typeface="B612 Bold"/>
                <a:rtl/>
              </a:rPr>
              <a:t>2D Classifier</a:t>
            </a:r>
            <a:endParaRPr lang="ar-EG" sz="2569" b="1" dirty="0">
              <a:solidFill>
                <a:srgbClr val="FFFFFF"/>
              </a:solidFill>
              <a:latin typeface="Arial Rounded MT Bold" panose="020F0704030504030204" pitchFamily="34" charset="0"/>
              <a:ea typeface="B612 Bold"/>
              <a:cs typeface="+mj-cs"/>
              <a:sym typeface="B612 Bold"/>
              <a:rtl/>
            </a:endParaRPr>
          </a:p>
        </p:txBody>
      </p:sp>
      <p:sp>
        <p:nvSpPr>
          <p:cNvPr id="29" name="TextBox 29"/>
          <p:cNvSpPr txBox="1"/>
          <p:nvPr/>
        </p:nvSpPr>
        <p:spPr>
          <a:xfrm>
            <a:off x="6255645" y="1290760"/>
            <a:ext cx="5776710" cy="620363"/>
          </a:xfrm>
          <a:prstGeom prst="rect">
            <a:avLst/>
          </a:prstGeom>
        </p:spPr>
        <p:txBody>
          <a:bodyPr wrap="square" lIns="0" tIns="0" rIns="0" bIns="0" rtlCol="0" anchor="t">
            <a:spAutoFit/>
          </a:bodyPr>
          <a:lstStyle/>
          <a:p>
            <a:pPr algn="ctr" rtl="1">
              <a:lnSpc>
                <a:spcPts val="5163"/>
              </a:lnSpc>
              <a:spcBef>
                <a:spcPct val="0"/>
              </a:spcBef>
            </a:pPr>
            <a:r>
              <a:rPr lang="ar-EG" sz="4000" b="1" dirty="0">
                <a:solidFill>
                  <a:srgbClr val="FFFFFF"/>
                </a:solidFill>
                <a:latin typeface="B612 Bold"/>
                <a:ea typeface="B612 Bold"/>
                <a:cs typeface="+mj-cs"/>
                <a:sym typeface="B612 Bold"/>
                <a:rtl/>
              </a:rPr>
              <a:t>تصميم النماذج وتصنيف البيانات</a:t>
            </a:r>
          </a:p>
        </p:txBody>
      </p:sp>
      <p:sp>
        <p:nvSpPr>
          <p:cNvPr id="30" name="TextBox 29">
            <a:extLst>
              <a:ext uri="{FF2B5EF4-FFF2-40B4-BE49-F238E27FC236}">
                <a16:creationId xmlns:a16="http://schemas.microsoft.com/office/drawing/2014/main" id="{CBC0F665-B570-4378-BEAB-B383493DF3F8}"/>
              </a:ext>
            </a:extLst>
          </p:cNvPr>
          <p:cNvSpPr txBox="1"/>
          <p:nvPr/>
        </p:nvSpPr>
        <p:spPr>
          <a:xfrm>
            <a:off x="6255645" y="2329190"/>
            <a:ext cx="5776710" cy="642035"/>
          </a:xfrm>
          <a:prstGeom prst="rect">
            <a:avLst/>
          </a:prstGeom>
        </p:spPr>
        <p:txBody>
          <a:bodyPr wrap="square" lIns="0" tIns="0" rIns="0" bIns="0" rtlCol="0" anchor="t">
            <a:spAutoFit/>
          </a:bodyPr>
          <a:lstStyle/>
          <a:p>
            <a:pPr algn="ctr" rtl="1">
              <a:lnSpc>
                <a:spcPts val="5163"/>
              </a:lnSpc>
              <a:spcBef>
                <a:spcPct val="0"/>
              </a:spcBef>
            </a:pPr>
            <a:r>
              <a:rPr lang="ar-EG" sz="3687" b="1" dirty="0">
                <a:solidFill>
                  <a:srgbClr val="FFFFFF"/>
                </a:solidFill>
                <a:latin typeface="B612 Bold"/>
                <a:ea typeface="B612 Bold"/>
                <a:cs typeface="+mj-cs"/>
                <a:sym typeface="B612 Bold"/>
                <a:rtl/>
              </a:rPr>
              <a:t>تصميم النموذج 1</a:t>
            </a:r>
            <a:r>
              <a:rPr lang="en-US" sz="3687" b="1" dirty="0">
                <a:solidFill>
                  <a:srgbClr val="FFFFFF"/>
                </a:solidFill>
                <a:latin typeface="B612 Bold"/>
                <a:ea typeface="B612 Bold"/>
                <a:cs typeface="+mj-cs"/>
                <a:sym typeface="B612 Bold"/>
                <a:rtl/>
              </a:rPr>
              <a:t>D</a:t>
            </a:r>
            <a:endParaRPr lang="ar-EG" sz="3687" b="1" dirty="0">
              <a:solidFill>
                <a:srgbClr val="FFFFFF"/>
              </a:solidFill>
              <a:latin typeface="B612 Bold"/>
              <a:ea typeface="B612 Bold"/>
              <a:cs typeface="+mj-cs"/>
              <a:sym typeface="B612 Bold"/>
              <a:rtl/>
            </a:endParaRPr>
          </a:p>
        </p:txBody>
      </p:sp>
      <p:sp>
        <p:nvSpPr>
          <p:cNvPr id="31" name="TextBox 29">
            <a:extLst>
              <a:ext uri="{FF2B5EF4-FFF2-40B4-BE49-F238E27FC236}">
                <a16:creationId xmlns:a16="http://schemas.microsoft.com/office/drawing/2014/main" id="{426AE3EF-9287-4802-9EB2-3B16F87E917C}"/>
              </a:ext>
            </a:extLst>
          </p:cNvPr>
          <p:cNvSpPr txBox="1"/>
          <p:nvPr/>
        </p:nvSpPr>
        <p:spPr>
          <a:xfrm>
            <a:off x="6255645" y="5578040"/>
            <a:ext cx="5776710" cy="642035"/>
          </a:xfrm>
          <a:prstGeom prst="rect">
            <a:avLst/>
          </a:prstGeom>
        </p:spPr>
        <p:txBody>
          <a:bodyPr wrap="square" lIns="0" tIns="0" rIns="0" bIns="0" rtlCol="0" anchor="t">
            <a:spAutoFit/>
          </a:bodyPr>
          <a:lstStyle/>
          <a:p>
            <a:pPr algn="ctr" rtl="1">
              <a:lnSpc>
                <a:spcPts val="5163"/>
              </a:lnSpc>
              <a:spcBef>
                <a:spcPct val="0"/>
              </a:spcBef>
            </a:pPr>
            <a:r>
              <a:rPr lang="ar-EG" sz="3687" b="1" dirty="0">
                <a:solidFill>
                  <a:srgbClr val="FFFFFF"/>
                </a:solidFill>
                <a:latin typeface="B612 Bold"/>
                <a:ea typeface="B612 Bold"/>
                <a:cs typeface="+mj-cs"/>
                <a:sym typeface="B612 Bold"/>
                <a:rtl/>
              </a:rPr>
              <a:t>تصميم النموذج </a:t>
            </a:r>
            <a:r>
              <a:rPr lang="ar-SY" sz="3687" b="1" dirty="0">
                <a:solidFill>
                  <a:srgbClr val="FFFFFF"/>
                </a:solidFill>
                <a:latin typeface="B612 Bold"/>
                <a:ea typeface="B612 Bold"/>
                <a:cs typeface="+mj-cs"/>
                <a:sym typeface="B612 Bold"/>
                <a:rtl/>
              </a:rPr>
              <a:t>2</a:t>
            </a:r>
            <a:r>
              <a:rPr lang="en-US" sz="3687" b="1" dirty="0">
                <a:solidFill>
                  <a:srgbClr val="FFFFFF"/>
                </a:solidFill>
                <a:latin typeface="B612 Bold"/>
                <a:ea typeface="B612 Bold"/>
                <a:cs typeface="+mj-cs"/>
                <a:sym typeface="B612 Bold"/>
                <a:rtl/>
              </a:rPr>
              <a:t>D</a:t>
            </a:r>
            <a:endParaRPr lang="ar-EG" sz="3687" b="1" dirty="0">
              <a:solidFill>
                <a:srgbClr val="FFFFFF"/>
              </a:solidFill>
              <a:latin typeface="B612 Bold"/>
              <a:ea typeface="B612 Bold"/>
              <a:cs typeface="+mj-cs"/>
              <a:sym typeface="B612 Bold"/>
              <a:rtl/>
            </a:endParaRPr>
          </a:p>
        </p:txBody>
      </p:sp>
      <p:sp>
        <p:nvSpPr>
          <p:cNvPr id="27" name="TextBox 11">
            <a:extLst>
              <a:ext uri="{FF2B5EF4-FFF2-40B4-BE49-F238E27FC236}">
                <a16:creationId xmlns:a16="http://schemas.microsoft.com/office/drawing/2014/main" id="{7B41E5AF-C361-4C7B-995B-2838723C1C65}"/>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pic>
        <p:nvPicPr>
          <p:cNvPr id="24" name="صورة 23">
            <a:extLst>
              <a:ext uri="{FF2B5EF4-FFF2-40B4-BE49-F238E27FC236}">
                <a16:creationId xmlns:a16="http://schemas.microsoft.com/office/drawing/2014/main" id="{2D340766-D555-4A44-BCAF-496B24B92B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300" y="4323091"/>
            <a:ext cx="6592061" cy="28496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19364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grpSp>
        <p:nvGrpSpPr>
          <p:cNvPr id="7" name="Group 7"/>
          <p:cNvGrpSpPr/>
          <p:nvPr/>
        </p:nvGrpSpPr>
        <p:grpSpPr>
          <a:xfrm>
            <a:off x="3218708" y="3722307"/>
            <a:ext cx="11850584" cy="3783278"/>
            <a:chOff x="0" y="0"/>
            <a:chExt cx="2146919" cy="822748"/>
          </a:xfrm>
        </p:grpSpPr>
        <p:sp>
          <p:nvSpPr>
            <p:cNvPr id="8" name="Freeform 8"/>
            <p:cNvSpPr/>
            <p:nvPr/>
          </p:nvSpPr>
          <p:spPr>
            <a:xfrm>
              <a:off x="0" y="0"/>
              <a:ext cx="2146919" cy="822748"/>
            </a:xfrm>
            <a:custGeom>
              <a:avLst/>
              <a:gdLst/>
              <a:ahLst/>
              <a:cxnLst/>
              <a:rect l="l" t="t" r="r" b="b"/>
              <a:pathLst>
                <a:path w="2146919" h="822748">
                  <a:moveTo>
                    <a:pt x="20604" y="0"/>
                  </a:moveTo>
                  <a:lnTo>
                    <a:pt x="2126315" y="0"/>
                  </a:lnTo>
                  <a:cubicBezTo>
                    <a:pt x="2137694" y="0"/>
                    <a:pt x="2146919" y="9225"/>
                    <a:pt x="2146919" y="20604"/>
                  </a:cubicBezTo>
                  <a:lnTo>
                    <a:pt x="2146919" y="802144"/>
                  </a:lnTo>
                  <a:cubicBezTo>
                    <a:pt x="2146919" y="807609"/>
                    <a:pt x="2144748" y="812849"/>
                    <a:pt x="2140884" y="816713"/>
                  </a:cubicBezTo>
                  <a:cubicBezTo>
                    <a:pt x="2137020" y="820577"/>
                    <a:pt x="2131779" y="822748"/>
                    <a:pt x="2126315" y="822748"/>
                  </a:cubicBezTo>
                  <a:lnTo>
                    <a:pt x="20604" y="822748"/>
                  </a:lnTo>
                  <a:cubicBezTo>
                    <a:pt x="9225" y="822748"/>
                    <a:pt x="0" y="813523"/>
                    <a:pt x="0" y="802144"/>
                  </a:cubicBezTo>
                  <a:lnTo>
                    <a:pt x="0" y="20604"/>
                  </a:lnTo>
                  <a:cubicBezTo>
                    <a:pt x="0" y="9225"/>
                    <a:pt x="9225" y="0"/>
                    <a:pt x="20604" y="0"/>
                  </a:cubicBezTo>
                  <a:close/>
                </a:path>
              </a:pathLst>
            </a:custGeom>
            <a:solidFill>
              <a:srgbClr val="FFFFFF">
                <a:alpha val="15686"/>
              </a:srgbClr>
            </a:solidFill>
            <a:ln cap="sq">
              <a:noFill/>
              <a:prstDash val="solid"/>
              <a:miter/>
            </a:ln>
          </p:spPr>
        </p:sp>
        <p:sp>
          <p:nvSpPr>
            <p:cNvPr id="9" name="TextBox 9"/>
            <p:cNvSpPr txBox="1"/>
            <p:nvPr/>
          </p:nvSpPr>
          <p:spPr>
            <a:xfrm>
              <a:off x="0" y="-47625"/>
              <a:ext cx="2146919" cy="870373"/>
            </a:xfrm>
            <a:prstGeom prst="rect">
              <a:avLst/>
            </a:prstGeom>
          </p:spPr>
          <p:txBody>
            <a:bodyPr lIns="50800" tIns="50800" rIns="50800" bIns="50800" rtlCol="0" anchor="ctr"/>
            <a:lstStyle/>
            <a:p>
              <a:pPr algn="ctr">
                <a:lnSpc>
                  <a:spcPts val="3146"/>
                </a:lnSpc>
              </a:pPr>
              <a:endParaRPr>
                <a:cs typeface="+mj-cs"/>
              </a:endParaRPr>
            </a:p>
          </p:txBody>
        </p:sp>
      </p:grpSp>
      <p:sp>
        <p:nvSpPr>
          <p:cNvPr id="19" name="TextBox 19"/>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MMCS</a:t>
            </a:r>
          </a:p>
        </p:txBody>
      </p:sp>
      <p:sp>
        <p:nvSpPr>
          <p:cNvPr id="22" name="TextBox 22"/>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Page 10</a:t>
            </a:r>
          </a:p>
        </p:txBody>
      </p:sp>
      <p:sp>
        <p:nvSpPr>
          <p:cNvPr id="27" name="TextBox 27"/>
          <p:cNvSpPr txBox="1"/>
          <p:nvPr/>
        </p:nvSpPr>
        <p:spPr>
          <a:xfrm>
            <a:off x="4906619" y="4320327"/>
            <a:ext cx="9312074" cy="2131289"/>
          </a:xfrm>
          <a:prstGeom prst="rect">
            <a:avLst/>
          </a:prstGeom>
        </p:spPr>
        <p:txBody>
          <a:bodyPr wrap="square" lIns="0" tIns="0" rIns="0" bIns="0" rtlCol="0" anchor="t">
            <a:spAutoFit/>
          </a:bodyPr>
          <a:lstStyle/>
          <a:p>
            <a:pPr marL="457200" indent="-457200" algn="r" rtl="1">
              <a:lnSpc>
                <a:spcPct val="150000"/>
              </a:lnSpc>
              <a:buFont typeface="Arial" panose="020B0604020202020204" pitchFamily="34" charset="0"/>
              <a:buChar char="•"/>
            </a:pPr>
            <a:r>
              <a:rPr lang="ar-EG"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استخدام تقنيتين: إضافة الضوضاء وإزاحة الوقت.</a:t>
            </a:r>
          </a:p>
          <a:p>
            <a:pPr marL="457200" indent="-457200" algn="r" rtl="1">
              <a:lnSpc>
                <a:spcPct val="150000"/>
              </a:lnSpc>
              <a:buFont typeface="Arial" panose="020B0604020202020204" pitchFamily="34" charset="0"/>
              <a:buChar char="•"/>
            </a:pPr>
            <a:r>
              <a:rPr lang="ar-EG"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زيادة حجم البيانات من 400 إلى 1200 ملف.</a:t>
            </a:r>
          </a:p>
          <a:p>
            <a:pPr marL="457200" indent="-457200" algn="r" rtl="1">
              <a:lnSpc>
                <a:spcPct val="150000"/>
              </a:lnSpc>
              <a:buFont typeface="Arial" panose="020B0604020202020204" pitchFamily="34" charset="0"/>
              <a:buChar char="•"/>
            </a:pPr>
            <a:r>
              <a:rPr lang="ar-EG"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تحسين استقرار التدريب وزيادة الدقة إلى 94% </a:t>
            </a:r>
            <a:r>
              <a:rPr lang="en-US" sz="3200"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sym typeface="B612 Bold"/>
                <a:rtl/>
              </a:rPr>
              <a:t>(</a:t>
            </a:r>
            <a:r>
              <a:rPr lang="en-US"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1D</a:t>
            </a:r>
            <a:r>
              <a:rPr lang="en-US" sz="3200" dirty="0">
                <a:solidFill>
                  <a:srgbClr val="FFFFFF"/>
                </a:solidFill>
                <a:latin typeface="Times New Roman" panose="02020603050405020304" pitchFamily="18" charset="0"/>
                <a:ea typeface="Microsoft YaHei Light" panose="020B0502040204020203" pitchFamily="34" charset="-122"/>
                <a:cs typeface="Times New Roman" panose="02020603050405020304" pitchFamily="18" charset="0"/>
                <a:sym typeface="B612 Bold"/>
                <a:rtl/>
              </a:rPr>
              <a:t>)</a:t>
            </a:r>
            <a:r>
              <a:rPr lang="ar-SY"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 و </a:t>
            </a:r>
            <a:r>
              <a:rPr lang="ar-EG"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93% </a:t>
            </a:r>
            <a:r>
              <a:rPr lang="ar-SY"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a:t>
            </a:r>
            <a:r>
              <a:rPr lang="en-US"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2D</a:t>
            </a:r>
            <a:r>
              <a:rPr lang="ar-SY"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a:t>
            </a:r>
            <a:endParaRPr lang="ar-EG" sz="3200" dirty="0">
              <a:solidFill>
                <a:srgbClr val="FFFFFF"/>
              </a:solidFill>
              <a:latin typeface="Microsoft YaHei Light" panose="020B0502040204020203" pitchFamily="34" charset="-122"/>
              <a:ea typeface="Microsoft YaHei Light" panose="020B0502040204020203" pitchFamily="34" charset="-122"/>
              <a:cs typeface="+mj-cs"/>
              <a:sym typeface="B612 Bold"/>
              <a:rtl/>
            </a:endParaRPr>
          </a:p>
        </p:txBody>
      </p:sp>
      <p:sp>
        <p:nvSpPr>
          <p:cNvPr id="35" name="TextBox 35"/>
          <p:cNvSpPr txBox="1"/>
          <p:nvPr/>
        </p:nvSpPr>
        <p:spPr>
          <a:xfrm>
            <a:off x="6707381" y="1638117"/>
            <a:ext cx="4873238" cy="620363"/>
          </a:xfrm>
          <a:prstGeom prst="rect">
            <a:avLst/>
          </a:prstGeom>
        </p:spPr>
        <p:txBody>
          <a:bodyPr wrap="square" lIns="0" tIns="0" rIns="0" bIns="0" rtlCol="0" anchor="t">
            <a:spAutoFit/>
          </a:bodyPr>
          <a:lstStyle/>
          <a:p>
            <a:pPr algn="ctr" rtl="1">
              <a:lnSpc>
                <a:spcPts val="5163"/>
              </a:lnSpc>
              <a:spcBef>
                <a:spcPct val="0"/>
              </a:spcBef>
            </a:pPr>
            <a:r>
              <a:rPr lang="ar-SY" sz="4000" b="1" dirty="0">
                <a:solidFill>
                  <a:srgbClr val="FFFFFF"/>
                </a:solidFill>
                <a:latin typeface="B612 Bold"/>
                <a:ea typeface="B612 Bold"/>
                <a:cs typeface="+mj-cs"/>
                <a:sym typeface="B612 Bold"/>
                <a:rtl/>
              </a:rPr>
              <a:t>زيادة البيانات</a:t>
            </a:r>
            <a:endParaRPr lang="ar-EG" sz="4000" b="1" dirty="0">
              <a:solidFill>
                <a:srgbClr val="FFFFFF"/>
              </a:solidFill>
              <a:latin typeface="B612 Bold"/>
              <a:ea typeface="B612 Bold"/>
              <a:cs typeface="+mj-cs"/>
              <a:sym typeface="B612 Bold"/>
              <a:rtl/>
            </a:endParaRPr>
          </a:p>
        </p:txBody>
      </p:sp>
      <p:sp>
        <p:nvSpPr>
          <p:cNvPr id="16" name="TextBox 29">
            <a:extLst>
              <a:ext uri="{FF2B5EF4-FFF2-40B4-BE49-F238E27FC236}">
                <a16:creationId xmlns:a16="http://schemas.microsoft.com/office/drawing/2014/main" id="{950F81B7-A6E8-4846-8649-1C018ABE9D48}"/>
              </a:ext>
            </a:extLst>
          </p:cNvPr>
          <p:cNvSpPr txBox="1"/>
          <p:nvPr/>
        </p:nvSpPr>
        <p:spPr>
          <a:xfrm>
            <a:off x="6255645" y="2511124"/>
            <a:ext cx="5776710" cy="609526"/>
          </a:xfrm>
          <a:prstGeom prst="rect">
            <a:avLst/>
          </a:prstGeom>
        </p:spPr>
        <p:txBody>
          <a:bodyPr wrap="square" lIns="0" tIns="0" rIns="0" bIns="0" rtlCol="0" anchor="t">
            <a:spAutoFit/>
          </a:bodyPr>
          <a:lstStyle/>
          <a:p>
            <a:pPr algn="ctr" rtl="1">
              <a:lnSpc>
                <a:spcPts val="5163"/>
              </a:lnSpc>
              <a:spcBef>
                <a:spcPct val="0"/>
              </a:spcBef>
            </a:pPr>
            <a:r>
              <a:rPr lang="en-US" sz="3687" b="1" dirty="0">
                <a:solidFill>
                  <a:srgbClr val="FFFFFF"/>
                </a:solidFill>
                <a:latin typeface="Microsoft YaHei Light" panose="020B0502040204020203" pitchFamily="34" charset="-122"/>
                <a:ea typeface="Microsoft YaHei Light" panose="020B0502040204020203" pitchFamily="34" charset="-122"/>
                <a:cs typeface="+mj-cs"/>
                <a:sym typeface="B612 Bold"/>
                <a:rtl/>
              </a:rPr>
              <a:t>Data Augmentation</a:t>
            </a:r>
            <a:endParaRPr lang="ar-EG" sz="3687" b="1" dirty="0">
              <a:solidFill>
                <a:srgbClr val="FFFFFF"/>
              </a:solidFill>
              <a:latin typeface="Microsoft YaHei Light" panose="020B0502040204020203" pitchFamily="34" charset="-122"/>
              <a:ea typeface="Microsoft YaHei Light" panose="020B0502040204020203" pitchFamily="34" charset="-122"/>
              <a:cs typeface="+mj-cs"/>
              <a:sym typeface="B612 Bold"/>
              <a:rtl/>
            </a:endParaRPr>
          </a:p>
        </p:txBody>
      </p:sp>
      <p:sp>
        <p:nvSpPr>
          <p:cNvPr id="15" name="TextBox 11">
            <a:extLst>
              <a:ext uri="{FF2B5EF4-FFF2-40B4-BE49-F238E27FC236}">
                <a16:creationId xmlns:a16="http://schemas.microsoft.com/office/drawing/2014/main" id="{16D3FD1B-7F06-4E30-B6FF-CB73F377D5A6}"/>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spTree>
    <p:extLst>
      <p:ext uri="{BB962C8B-B14F-4D97-AF65-F5344CB8AC3E}">
        <p14:creationId xmlns:p14="http://schemas.microsoft.com/office/powerpoint/2010/main" val="4277727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grpSp>
        <p:nvGrpSpPr>
          <p:cNvPr id="7" name="Group 7"/>
          <p:cNvGrpSpPr/>
          <p:nvPr/>
        </p:nvGrpSpPr>
        <p:grpSpPr>
          <a:xfrm>
            <a:off x="5217280" y="2737567"/>
            <a:ext cx="11850584" cy="3883598"/>
            <a:chOff x="0" y="0"/>
            <a:chExt cx="2146919" cy="822748"/>
          </a:xfrm>
        </p:grpSpPr>
        <p:sp>
          <p:nvSpPr>
            <p:cNvPr id="8" name="Freeform 8"/>
            <p:cNvSpPr/>
            <p:nvPr/>
          </p:nvSpPr>
          <p:spPr>
            <a:xfrm>
              <a:off x="0" y="0"/>
              <a:ext cx="2146919" cy="822748"/>
            </a:xfrm>
            <a:custGeom>
              <a:avLst/>
              <a:gdLst/>
              <a:ahLst/>
              <a:cxnLst/>
              <a:rect l="l" t="t" r="r" b="b"/>
              <a:pathLst>
                <a:path w="2146919" h="822748">
                  <a:moveTo>
                    <a:pt x="20604" y="0"/>
                  </a:moveTo>
                  <a:lnTo>
                    <a:pt x="2126315" y="0"/>
                  </a:lnTo>
                  <a:cubicBezTo>
                    <a:pt x="2137694" y="0"/>
                    <a:pt x="2146919" y="9225"/>
                    <a:pt x="2146919" y="20604"/>
                  </a:cubicBezTo>
                  <a:lnTo>
                    <a:pt x="2146919" y="802144"/>
                  </a:lnTo>
                  <a:cubicBezTo>
                    <a:pt x="2146919" y="807609"/>
                    <a:pt x="2144748" y="812849"/>
                    <a:pt x="2140884" y="816713"/>
                  </a:cubicBezTo>
                  <a:cubicBezTo>
                    <a:pt x="2137020" y="820577"/>
                    <a:pt x="2131779" y="822748"/>
                    <a:pt x="2126315" y="822748"/>
                  </a:cubicBezTo>
                  <a:lnTo>
                    <a:pt x="20604" y="822748"/>
                  </a:lnTo>
                  <a:cubicBezTo>
                    <a:pt x="9225" y="822748"/>
                    <a:pt x="0" y="813523"/>
                    <a:pt x="0" y="802144"/>
                  </a:cubicBezTo>
                  <a:lnTo>
                    <a:pt x="0" y="20604"/>
                  </a:lnTo>
                  <a:cubicBezTo>
                    <a:pt x="0" y="9225"/>
                    <a:pt x="9225" y="0"/>
                    <a:pt x="20604" y="0"/>
                  </a:cubicBezTo>
                  <a:close/>
                </a:path>
              </a:pathLst>
            </a:custGeom>
            <a:solidFill>
              <a:srgbClr val="FFFFFF">
                <a:alpha val="15686"/>
              </a:srgbClr>
            </a:solidFill>
            <a:ln cap="sq">
              <a:noFill/>
              <a:prstDash val="solid"/>
              <a:miter/>
            </a:ln>
          </p:spPr>
        </p:sp>
        <p:sp>
          <p:nvSpPr>
            <p:cNvPr id="9" name="TextBox 9"/>
            <p:cNvSpPr txBox="1"/>
            <p:nvPr/>
          </p:nvSpPr>
          <p:spPr>
            <a:xfrm>
              <a:off x="0" y="-47625"/>
              <a:ext cx="2146919" cy="870373"/>
            </a:xfrm>
            <a:prstGeom prst="rect">
              <a:avLst/>
            </a:prstGeom>
          </p:spPr>
          <p:txBody>
            <a:bodyPr lIns="50800" tIns="50800" rIns="50800" bIns="50800" rtlCol="0" anchor="ctr"/>
            <a:lstStyle/>
            <a:p>
              <a:pPr algn="ctr">
                <a:lnSpc>
                  <a:spcPts val="3146"/>
                </a:lnSpc>
              </a:pPr>
              <a:endParaRPr>
                <a:cs typeface="+mj-cs"/>
              </a:endParaRPr>
            </a:p>
          </p:txBody>
        </p:sp>
      </p:grpSp>
      <p:sp>
        <p:nvSpPr>
          <p:cNvPr id="19" name="TextBox 19"/>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MMCS</a:t>
            </a:r>
          </a:p>
        </p:txBody>
      </p:sp>
      <p:sp>
        <p:nvSpPr>
          <p:cNvPr id="22" name="TextBox 22"/>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Page 11</a:t>
            </a:r>
          </a:p>
        </p:txBody>
      </p:sp>
      <p:sp>
        <p:nvSpPr>
          <p:cNvPr id="27" name="TextBox 27"/>
          <p:cNvSpPr txBox="1"/>
          <p:nvPr/>
        </p:nvSpPr>
        <p:spPr>
          <a:xfrm>
            <a:off x="9995161" y="2894521"/>
            <a:ext cx="6632555" cy="2866169"/>
          </a:xfrm>
          <a:prstGeom prst="rect">
            <a:avLst/>
          </a:prstGeom>
        </p:spPr>
        <p:txBody>
          <a:bodyPr wrap="square" lIns="0" tIns="0" rIns="0" bIns="0" rtlCol="0" anchor="t">
            <a:spAutoFit/>
          </a:bodyPr>
          <a:lstStyle/>
          <a:p>
            <a:pPr marL="457200" indent="-457200" algn="r" rtl="1">
              <a:lnSpc>
                <a:spcPct val="150000"/>
              </a:lnSpc>
              <a:buFont typeface="Courier New" panose="02070309020205020404" pitchFamily="49" charset="0"/>
              <a:buChar char="o"/>
            </a:pPr>
            <a:r>
              <a:rPr lang="ar-EG"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واجهة ويب تفاعلية مبنية باستخدام </a:t>
            </a:r>
            <a:r>
              <a:rPr lang="en-US"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Django</a:t>
            </a:r>
          </a:p>
          <a:p>
            <a:pPr marL="457200" indent="-457200" algn="r" rtl="1">
              <a:lnSpc>
                <a:spcPct val="150000"/>
              </a:lnSpc>
              <a:buFont typeface="Courier New" panose="02070309020205020404" pitchFamily="49" charset="0"/>
              <a:buChar char="o"/>
            </a:pPr>
            <a:r>
              <a:rPr lang="ar-EG"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تتيح للمستخدمين تحميل ملفاتهم الصوتية واختيار النموذج</a:t>
            </a:r>
            <a:r>
              <a:rPr lang="en-US"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 1D </a:t>
            </a:r>
            <a:r>
              <a:rPr lang="ar-EG"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أو </a:t>
            </a:r>
            <a:r>
              <a:rPr lang="en-US"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2D</a:t>
            </a:r>
          </a:p>
          <a:p>
            <a:pPr marL="457200" indent="-457200" algn="r" rtl="1">
              <a:lnSpc>
                <a:spcPct val="150000"/>
              </a:lnSpc>
              <a:buFont typeface="Courier New" panose="02070309020205020404" pitchFamily="49" charset="0"/>
              <a:buChar char="o"/>
            </a:pPr>
            <a:r>
              <a:rPr lang="ar-EG" sz="3200" dirty="0">
                <a:solidFill>
                  <a:srgbClr val="FFFFFF"/>
                </a:solidFill>
                <a:latin typeface="Microsoft YaHei Light" panose="020B0502040204020203" pitchFamily="34" charset="-122"/>
                <a:ea typeface="Microsoft YaHei Light" panose="020B0502040204020203" pitchFamily="34" charset="-122"/>
                <a:cs typeface="+mj-cs"/>
                <a:sym typeface="B612 Bold"/>
                <a:rtl/>
              </a:rPr>
              <a:t>عرض النتائج بشكل مرئي ومباشر.</a:t>
            </a:r>
          </a:p>
        </p:txBody>
      </p:sp>
      <p:sp>
        <p:nvSpPr>
          <p:cNvPr id="35" name="TextBox 35"/>
          <p:cNvSpPr txBox="1"/>
          <p:nvPr/>
        </p:nvSpPr>
        <p:spPr>
          <a:xfrm>
            <a:off x="5789021" y="1356963"/>
            <a:ext cx="4873238" cy="620363"/>
          </a:xfrm>
          <a:prstGeom prst="rect">
            <a:avLst/>
          </a:prstGeom>
        </p:spPr>
        <p:txBody>
          <a:bodyPr wrap="square" lIns="0" tIns="0" rIns="0" bIns="0" rtlCol="0" anchor="t">
            <a:spAutoFit/>
          </a:bodyPr>
          <a:lstStyle/>
          <a:p>
            <a:pPr algn="ctr" rtl="1">
              <a:lnSpc>
                <a:spcPts val="5163"/>
              </a:lnSpc>
              <a:spcBef>
                <a:spcPct val="0"/>
              </a:spcBef>
            </a:pPr>
            <a:r>
              <a:rPr lang="ar-SY" sz="4000" b="1" dirty="0">
                <a:solidFill>
                  <a:srgbClr val="FFFFFF"/>
                </a:solidFill>
                <a:latin typeface="B612 Bold"/>
                <a:ea typeface="B612 Bold"/>
                <a:cs typeface="+mj-cs"/>
                <a:sym typeface="B612 Bold"/>
                <a:rtl/>
              </a:rPr>
              <a:t>واجهة المستخدم</a:t>
            </a:r>
            <a:endParaRPr lang="ar-EG" sz="4000" b="1" dirty="0">
              <a:solidFill>
                <a:srgbClr val="FFFFFF"/>
              </a:solidFill>
              <a:latin typeface="B612 Bold"/>
              <a:ea typeface="B612 Bold"/>
              <a:cs typeface="+mj-cs"/>
              <a:sym typeface="B612 Bold"/>
              <a:rtl/>
            </a:endParaRPr>
          </a:p>
        </p:txBody>
      </p:sp>
      <p:sp>
        <p:nvSpPr>
          <p:cNvPr id="16" name="TextBox 29">
            <a:extLst>
              <a:ext uri="{FF2B5EF4-FFF2-40B4-BE49-F238E27FC236}">
                <a16:creationId xmlns:a16="http://schemas.microsoft.com/office/drawing/2014/main" id="{950F81B7-A6E8-4846-8649-1C018ABE9D48}"/>
              </a:ext>
            </a:extLst>
          </p:cNvPr>
          <p:cNvSpPr txBox="1"/>
          <p:nvPr/>
        </p:nvSpPr>
        <p:spPr>
          <a:xfrm>
            <a:off x="9706746" y="1952844"/>
            <a:ext cx="5776710" cy="625043"/>
          </a:xfrm>
          <a:prstGeom prst="rect">
            <a:avLst/>
          </a:prstGeom>
        </p:spPr>
        <p:txBody>
          <a:bodyPr wrap="square" lIns="0" tIns="0" rIns="0" bIns="0" rtlCol="0" anchor="t">
            <a:spAutoFit/>
          </a:bodyPr>
          <a:lstStyle/>
          <a:p>
            <a:pPr algn="ctr" rtl="1">
              <a:lnSpc>
                <a:spcPts val="5163"/>
              </a:lnSpc>
              <a:spcBef>
                <a:spcPct val="0"/>
              </a:spcBef>
            </a:pPr>
            <a:r>
              <a:rPr lang="en-US" sz="4000" b="1" dirty="0">
                <a:solidFill>
                  <a:srgbClr val="FFFFFF"/>
                </a:solidFill>
                <a:latin typeface="Microsoft YaHei Light" panose="020B0502040204020203" pitchFamily="34" charset="-122"/>
                <a:ea typeface="Microsoft YaHei Light" panose="020B0502040204020203" pitchFamily="34" charset="-122"/>
                <a:cs typeface="+mj-cs"/>
                <a:sym typeface="B612 Bold"/>
                <a:rtl/>
              </a:rPr>
              <a:t>User Interface</a:t>
            </a:r>
            <a:endParaRPr lang="ar-EG" sz="4000" b="1" dirty="0">
              <a:solidFill>
                <a:srgbClr val="FFFFFF"/>
              </a:solidFill>
              <a:latin typeface="Microsoft YaHei Light" panose="020B0502040204020203" pitchFamily="34" charset="-122"/>
              <a:ea typeface="Microsoft YaHei Light" panose="020B0502040204020203" pitchFamily="34" charset="-122"/>
              <a:cs typeface="+mj-cs"/>
              <a:sym typeface="B612 Bold"/>
              <a:rtl/>
            </a:endParaRPr>
          </a:p>
        </p:txBody>
      </p:sp>
      <p:sp>
        <p:nvSpPr>
          <p:cNvPr id="17" name="TextBox 11">
            <a:extLst>
              <a:ext uri="{FF2B5EF4-FFF2-40B4-BE49-F238E27FC236}">
                <a16:creationId xmlns:a16="http://schemas.microsoft.com/office/drawing/2014/main" id="{523E555A-A9E0-4E56-AB59-984CBDDF6F5B}"/>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pic>
        <p:nvPicPr>
          <p:cNvPr id="11" name="صورة 10">
            <a:extLst>
              <a:ext uri="{FF2B5EF4-FFF2-40B4-BE49-F238E27FC236}">
                <a16:creationId xmlns:a16="http://schemas.microsoft.com/office/drawing/2014/main" id="{B13B38A6-5DAE-40D0-B153-ECEC793C1408}"/>
              </a:ext>
            </a:extLst>
          </p:cNvPr>
          <p:cNvPicPr>
            <a:picLocks noChangeAspect="1"/>
          </p:cNvPicPr>
          <p:nvPr/>
        </p:nvPicPr>
        <p:blipFill>
          <a:blip r:embed="rId3"/>
          <a:stretch>
            <a:fillRect/>
          </a:stretch>
        </p:blipFill>
        <p:spPr>
          <a:xfrm>
            <a:off x="1065718" y="1602909"/>
            <a:ext cx="5639882" cy="25184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صورة 12">
            <a:extLst>
              <a:ext uri="{FF2B5EF4-FFF2-40B4-BE49-F238E27FC236}">
                <a16:creationId xmlns:a16="http://schemas.microsoft.com/office/drawing/2014/main" id="{32281FCC-2C4A-410B-BBD7-B48AC42117A1}"/>
              </a:ext>
            </a:extLst>
          </p:cNvPr>
          <p:cNvPicPr>
            <a:picLocks noChangeAspect="1"/>
          </p:cNvPicPr>
          <p:nvPr/>
        </p:nvPicPr>
        <p:blipFill>
          <a:blip r:embed="rId4"/>
          <a:stretch>
            <a:fillRect/>
          </a:stretch>
        </p:blipFill>
        <p:spPr>
          <a:xfrm>
            <a:off x="3399194" y="6630782"/>
            <a:ext cx="6424913" cy="27989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صورة 14">
            <a:extLst>
              <a:ext uri="{FF2B5EF4-FFF2-40B4-BE49-F238E27FC236}">
                <a16:creationId xmlns:a16="http://schemas.microsoft.com/office/drawing/2014/main" id="{3B963B17-B350-499D-BFB7-64C2F44E97EC}"/>
              </a:ext>
            </a:extLst>
          </p:cNvPr>
          <p:cNvPicPr>
            <a:picLocks noChangeAspect="1"/>
          </p:cNvPicPr>
          <p:nvPr/>
        </p:nvPicPr>
        <p:blipFill>
          <a:blip r:embed="rId5"/>
          <a:stretch>
            <a:fillRect/>
          </a:stretch>
        </p:blipFill>
        <p:spPr>
          <a:xfrm>
            <a:off x="12007801" y="6169889"/>
            <a:ext cx="4887108" cy="27287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 name="صورة 19">
            <a:extLst>
              <a:ext uri="{FF2B5EF4-FFF2-40B4-BE49-F238E27FC236}">
                <a16:creationId xmlns:a16="http://schemas.microsoft.com/office/drawing/2014/main" id="{8F33E4EF-D29E-4A6E-B0C2-F133A6919E31}"/>
              </a:ext>
            </a:extLst>
          </p:cNvPr>
          <p:cNvPicPr/>
          <p:nvPr/>
        </p:nvPicPr>
        <p:blipFill>
          <a:blip r:embed="rId6">
            <a:extLst>
              <a:ext uri="{28A0092B-C50C-407E-A947-70E740481C1C}">
                <a14:useLocalDpi xmlns:a14="http://schemas.microsoft.com/office/drawing/2010/main" val="0"/>
              </a:ext>
            </a:extLst>
          </a:blip>
          <a:stretch>
            <a:fillRect/>
          </a:stretch>
        </p:blipFill>
        <p:spPr>
          <a:xfrm>
            <a:off x="2276215" y="4136138"/>
            <a:ext cx="6016625" cy="24898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15638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998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cs typeface="+mj-cs"/>
            </a:endParaRPr>
          </a:p>
        </p:txBody>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sp>
        <p:nvSpPr>
          <p:cNvPr id="16" name="TextBox 16"/>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Page 12</a:t>
            </a:r>
          </a:p>
        </p:txBody>
      </p:sp>
      <p:sp>
        <p:nvSpPr>
          <p:cNvPr id="17" name="TextBox 17"/>
          <p:cNvSpPr txBox="1"/>
          <p:nvPr/>
        </p:nvSpPr>
        <p:spPr>
          <a:xfrm>
            <a:off x="7815201" y="1771542"/>
            <a:ext cx="2497622" cy="666849"/>
          </a:xfrm>
          <a:prstGeom prst="rect">
            <a:avLst/>
          </a:prstGeom>
        </p:spPr>
        <p:txBody>
          <a:bodyPr lIns="0" tIns="0" rIns="0" bIns="0" rtlCol="0" anchor="t">
            <a:spAutoFit/>
          </a:bodyPr>
          <a:lstStyle/>
          <a:p>
            <a:pPr algn="ctr" rtl="1">
              <a:lnSpc>
                <a:spcPts val="5163"/>
              </a:lnSpc>
              <a:spcBef>
                <a:spcPct val="0"/>
              </a:spcBef>
            </a:pPr>
            <a:r>
              <a:rPr lang="ar-SY" sz="4800" b="1" dirty="0">
                <a:solidFill>
                  <a:srgbClr val="FFFFFF"/>
                </a:solidFill>
                <a:latin typeface="B612 Bold"/>
                <a:ea typeface="B612 Bold"/>
                <a:cs typeface="+mj-cs"/>
                <a:sym typeface="B612 Bold"/>
                <a:rtl/>
              </a:rPr>
              <a:t>النتائج</a:t>
            </a:r>
            <a:endParaRPr lang="ar-EG" sz="4400" b="1" dirty="0">
              <a:solidFill>
                <a:srgbClr val="FFFFFF"/>
              </a:solidFill>
              <a:latin typeface="B612 Bold"/>
              <a:ea typeface="B612 Bold"/>
              <a:cs typeface="+mj-cs"/>
              <a:sym typeface="B612 Bold"/>
              <a:rtl/>
            </a:endParaRPr>
          </a:p>
        </p:txBody>
      </p:sp>
      <p:sp>
        <p:nvSpPr>
          <p:cNvPr id="23" name="TextBox 23"/>
          <p:cNvSpPr txBox="1"/>
          <p:nvPr/>
        </p:nvSpPr>
        <p:spPr>
          <a:xfrm>
            <a:off x="13393547" y="2624978"/>
            <a:ext cx="3816036" cy="810478"/>
          </a:xfrm>
          <a:prstGeom prst="rect">
            <a:avLst/>
          </a:prstGeom>
        </p:spPr>
        <p:txBody>
          <a:bodyPr wrap="square" lIns="0" tIns="0" rIns="0" bIns="0" rtlCol="0" anchor="t">
            <a:spAutoFit/>
          </a:bodyPr>
          <a:lstStyle/>
          <a:p>
            <a:pPr algn="ctr">
              <a:lnSpc>
                <a:spcPts val="3220"/>
              </a:lnSpc>
              <a:spcBef>
                <a:spcPct val="0"/>
              </a:spcBef>
            </a:pPr>
            <a:r>
              <a:rPr lang="ar-SY" sz="2800" dirty="0">
                <a:solidFill>
                  <a:srgbClr val="FBF9F1"/>
                </a:solidFill>
                <a:latin typeface="Microsoft YaHei Light" panose="020B0502040204020203" pitchFamily="34" charset="-122"/>
                <a:ea typeface="Microsoft YaHei Light" panose="020B0502040204020203" pitchFamily="34" charset="-122"/>
                <a:cs typeface="+mj-cs"/>
                <a:sym typeface="Cairo Bold"/>
              </a:rPr>
              <a:t>دقة التصنيف النهائية:</a:t>
            </a:r>
          </a:p>
          <a:p>
            <a:pPr algn="ctr">
              <a:lnSpc>
                <a:spcPts val="3220"/>
              </a:lnSpc>
              <a:spcBef>
                <a:spcPct val="0"/>
              </a:spcBef>
            </a:pPr>
            <a:r>
              <a:rPr lang="en-US" sz="2400" dirty="0">
                <a:solidFill>
                  <a:srgbClr val="FBF9F1"/>
                </a:solidFill>
                <a:latin typeface="Microsoft YaHei Light" panose="020B0502040204020203" pitchFamily="34" charset="-122"/>
                <a:ea typeface="Microsoft YaHei Light" panose="020B0502040204020203" pitchFamily="34" charset="-122"/>
                <a:cs typeface="+mj-cs"/>
                <a:sym typeface="Cairo Bold"/>
              </a:rPr>
              <a:t>91% </a:t>
            </a:r>
            <a:r>
              <a:rPr lang="ar-SY" sz="2400" dirty="0">
                <a:solidFill>
                  <a:srgbClr val="FBF9F1"/>
                </a:solidFill>
                <a:latin typeface="Microsoft YaHei Light" panose="020B0502040204020203" pitchFamily="34" charset="-122"/>
                <a:ea typeface="Microsoft YaHei Light" panose="020B0502040204020203" pitchFamily="34" charset="-122"/>
                <a:cs typeface="+mj-cs"/>
                <a:sym typeface="Cairo Bold"/>
              </a:rPr>
              <a:t></a:t>
            </a:r>
            <a:r>
              <a:rPr lang="ar-SY" sz="2400" dirty="0">
                <a:solidFill>
                  <a:srgbClr val="FBF9F1"/>
                </a:solidFill>
                <a:latin typeface="Microsoft YaHei Light" panose="020B0502040204020203" pitchFamily="34" charset="-122"/>
                <a:ea typeface="Microsoft YaHei Light" panose="020B0502040204020203" pitchFamily="34" charset="-122"/>
                <a:cs typeface="+mj-cs"/>
                <a:sym typeface="Symbol" panose="05050102010706020507" pitchFamily="18" charset="2"/>
              </a:rPr>
              <a:t></a:t>
            </a:r>
            <a:r>
              <a:rPr lang="en-US" sz="2400" dirty="0">
                <a:solidFill>
                  <a:srgbClr val="FBF9F1"/>
                </a:solidFill>
                <a:latin typeface="Microsoft YaHei Light" panose="020B0502040204020203" pitchFamily="34" charset="-122"/>
                <a:ea typeface="Microsoft YaHei Light" panose="020B0502040204020203" pitchFamily="34" charset="-122"/>
                <a:cs typeface="+mj-cs"/>
                <a:sym typeface="Cairo Bold"/>
              </a:rPr>
              <a:t> 1D</a:t>
            </a:r>
            <a:r>
              <a:rPr lang="ar-SY" sz="2400" dirty="0">
                <a:solidFill>
                  <a:srgbClr val="FBF9F1"/>
                </a:solidFill>
                <a:latin typeface="Microsoft YaHei Light" panose="020B0502040204020203" pitchFamily="34" charset="-122"/>
                <a:ea typeface="Microsoft YaHei Light" panose="020B0502040204020203" pitchFamily="34" charset="-122"/>
                <a:cs typeface="+mj-cs"/>
                <a:sym typeface="Cairo Bold"/>
              </a:rPr>
              <a:t>النموذج </a:t>
            </a:r>
          </a:p>
        </p:txBody>
      </p:sp>
      <p:sp>
        <p:nvSpPr>
          <p:cNvPr id="19" name="TextBox 11">
            <a:extLst>
              <a:ext uri="{FF2B5EF4-FFF2-40B4-BE49-F238E27FC236}">
                <a16:creationId xmlns:a16="http://schemas.microsoft.com/office/drawing/2014/main" id="{09506321-85AA-41E5-ABE2-0C5D9393FAD3}"/>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sp>
        <p:nvSpPr>
          <p:cNvPr id="24" name="TextBox 19">
            <a:extLst>
              <a:ext uri="{FF2B5EF4-FFF2-40B4-BE49-F238E27FC236}">
                <a16:creationId xmlns:a16="http://schemas.microsoft.com/office/drawing/2014/main" id="{A566C068-5BF5-4CB7-879C-1FB35876052C}"/>
              </a:ext>
            </a:extLst>
          </p:cNvPr>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MMCS</a:t>
            </a:r>
          </a:p>
        </p:txBody>
      </p:sp>
      <p:pic>
        <p:nvPicPr>
          <p:cNvPr id="14" name="صورة 13">
            <a:extLst>
              <a:ext uri="{FF2B5EF4-FFF2-40B4-BE49-F238E27FC236}">
                <a16:creationId xmlns:a16="http://schemas.microsoft.com/office/drawing/2014/main" id="{888C017A-5EF2-4AD3-9C86-58BC36D1D95B}"/>
              </a:ext>
            </a:extLst>
          </p:cNvPr>
          <p:cNvPicPr>
            <a:picLocks noChangeAspect="1"/>
          </p:cNvPicPr>
          <p:nvPr/>
        </p:nvPicPr>
        <p:blipFill>
          <a:blip r:embed="rId3"/>
          <a:stretch>
            <a:fillRect/>
          </a:stretch>
        </p:blipFill>
        <p:spPr>
          <a:xfrm>
            <a:off x="3429384" y="3840089"/>
            <a:ext cx="13233749" cy="1199090"/>
          </a:xfrm>
          <a:prstGeom prst="rect">
            <a:avLst/>
          </a:prstGeom>
          <a:ln>
            <a:noFill/>
          </a:ln>
          <a:effectLst>
            <a:outerShdw blurRad="190500" algn="tl" rotWithShape="0">
              <a:srgbClr val="000000">
                <a:alpha val="70000"/>
              </a:srgbClr>
            </a:outerShdw>
          </a:effectLst>
        </p:spPr>
      </p:pic>
      <p:sp>
        <p:nvSpPr>
          <p:cNvPr id="25" name="TextBox 23">
            <a:extLst>
              <a:ext uri="{FF2B5EF4-FFF2-40B4-BE49-F238E27FC236}">
                <a16:creationId xmlns:a16="http://schemas.microsoft.com/office/drawing/2014/main" id="{6BF12207-F0E8-4130-91C5-3DD2B6E9D573}"/>
              </a:ext>
            </a:extLst>
          </p:cNvPr>
          <p:cNvSpPr txBox="1"/>
          <p:nvPr/>
        </p:nvSpPr>
        <p:spPr>
          <a:xfrm>
            <a:off x="13296614" y="5845565"/>
            <a:ext cx="3816036" cy="810478"/>
          </a:xfrm>
          <a:prstGeom prst="rect">
            <a:avLst/>
          </a:prstGeom>
        </p:spPr>
        <p:txBody>
          <a:bodyPr wrap="square" lIns="0" tIns="0" rIns="0" bIns="0" rtlCol="0" anchor="t">
            <a:spAutoFit/>
          </a:bodyPr>
          <a:lstStyle/>
          <a:p>
            <a:pPr algn="ctr">
              <a:lnSpc>
                <a:spcPts val="3220"/>
              </a:lnSpc>
              <a:spcBef>
                <a:spcPct val="0"/>
              </a:spcBef>
            </a:pPr>
            <a:r>
              <a:rPr lang="ar-SY" sz="2800" dirty="0">
                <a:solidFill>
                  <a:srgbClr val="FBF9F1"/>
                </a:solidFill>
                <a:latin typeface="Microsoft YaHei Light" panose="020B0502040204020203" pitchFamily="34" charset="-122"/>
                <a:ea typeface="Microsoft YaHei Light" panose="020B0502040204020203" pitchFamily="34" charset="-122"/>
                <a:cs typeface="+mj-cs"/>
                <a:sym typeface="Cairo Bold"/>
              </a:rPr>
              <a:t>دقة التصنيف النهائية:</a:t>
            </a:r>
            <a:endParaRPr lang="ar-SY" sz="2400" dirty="0">
              <a:solidFill>
                <a:srgbClr val="FBF9F1"/>
              </a:solidFill>
              <a:latin typeface="Microsoft YaHei Light" panose="020B0502040204020203" pitchFamily="34" charset="-122"/>
              <a:ea typeface="Microsoft YaHei Light" panose="020B0502040204020203" pitchFamily="34" charset="-122"/>
              <a:cs typeface="+mj-cs"/>
              <a:sym typeface="Cairo Bold"/>
            </a:endParaRPr>
          </a:p>
          <a:p>
            <a:pPr algn="ctr">
              <a:lnSpc>
                <a:spcPts val="3220"/>
              </a:lnSpc>
              <a:spcBef>
                <a:spcPct val="0"/>
              </a:spcBef>
            </a:pPr>
            <a:r>
              <a:rPr lang="en-US" sz="2400" dirty="0">
                <a:solidFill>
                  <a:srgbClr val="FBF9F1"/>
                </a:solidFill>
                <a:latin typeface="Microsoft YaHei Light" panose="020B0502040204020203" pitchFamily="34" charset="-122"/>
                <a:ea typeface="Microsoft YaHei Light" panose="020B0502040204020203" pitchFamily="34" charset="-122"/>
                <a:cs typeface="+mj-cs"/>
                <a:sym typeface="Cairo Bold"/>
              </a:rPr>
              <a:t>96% </a:t>
            </a:r>
            <a:r>
              <a:rPr lang="ar-SY" sz="2400" dirty="0">
                <a:solidFill>
                  <a:srgbClr val="FBF9F1"/>
                </a:solidFill>
                <a:latin typeface="Microsoft YaHei Light" panose="020B0502040204020203" pitchFamily="34" charset="-122"/>
                <a:ea typeface="Microsoft YaHei Light" panose="020B0502040204020203" pitchFamily="34" charset="-122"/>
                <a:cs typeface="+mj-cs"/>
                <a:sym typeface="Cairo Bold"/>
              </a:rPr>
              <a:t></a:t>
            </a:r>
            <a:r>
              <a:rPr lang="ar-SY" sz="2400" dirty="0">
                <a:solidFill>
                  <a:srgbClr val="FBF9F1"/>
                </a:solidFill>
                <a:latin typeface="Microsoft YaHei Light" panose="020B0502040204020203" pitchFamily="34" charset="-122"/>
                <a:ea typeface="Microsoft YaHei Light" panose="020B0502040204020203" pitchFamily="34" charset="-122"/>
                <a:cs typeface="+mj-cs"/>
                <a:sym typeface="Symbol" panose="05050102010706020507" pitchFamily="18" charset="2"/>
              </a:rPr>
              <a:t></a:t>
            </a:r>
            <a:r>
              <a:rPr lang="en-US" sz="2400" dirty="0">
                <a:solidFill>
                  <a:srgbClr val="FBF9F1"/>
                </a:solidFill>
                <a:latin typeface="Microsoft YaHei Light" panose="020B0502040204020203" pitchFamily="34" charset="-122"/>
                <a:ea typeface="Microsoft YaHei Light" panose="020B0502040204020203" pitchFamily="34" charset="-122"/>
                <a:cs typeface="+mj-cs"/>
                <a:sym typeface="Cairo Bold"/>
              </a:rPr>
              <a:t> 2D</a:t>
            </a:r>
            <a:r>
              <a:rPr lang="ar-SY" sz="2400" dirty="0">
                <a:solidFill>
                  <a:srgbClr val="FBF9F1"/>
                </a:solidFill>
                <a:latin typeface="Microsoft YaHei Light" panose="020B0502040204020203" pitchFamily="34" charset="-122"/>
                <a:ea typeface="Microsoft YaHei Light" panose="020B0502040204020203" pitchFamily="34" charset="-122"/>
                <a:cs typeface="+mj-cs"/>
                <a:sym typeface="Cairo Bold"/>
              </a:rPr>
              <a:t>النموذج </a:t>
            </a:r>
            <a:endParaRPr lang="en-US" sz="2400" dirty="0">
              <a:solidFill>
                <a:srgbClr val="FBF9F1"/>
              </a:solidFill>
              <a:latin typeface="Microsoft YaHei Light" panose="020B0502040204020203" pitchFamily="34" charset="-122"/>
              <a:ea typeface="Microsoft YaHei Light" panose="020B0502040204020203" pitchFamily="34" charset="-122"/>
              <a:cs typeface="+mj-cs"/>
              <a:sym typeface="Cairo Bold"/>
            </a:endParaRPr>
          </a:p>
        </p:txBody>
      </p:sp>
      <p:pic>
        <p:nvPicPr>
          <p:cNvPr id="18" name="صورة 17">
            <a:extLst>
              <a:ext uri="{FF2B5EF4-FFF2-40B4-BE49-F238E27FC236}">
                <a16:creationId xmlns:a16="http://schemas.microsoft.com/office/drawing/2014/main" id="{4FC5866F-E0C9-47FE-905E-20ACFA8BA0BD}"/>
              </a:ext>
            </a:extLst>
          </p:cNvPr>
          <p:cNvPicPr>
            <a:picLocks noChangeAspect="1"/>
          </p:cNvPicPr>
          <p:nvPr/>
        </p:nvPicPr>
        <p:blipFill>
          <a:blip r:embed="rId4"/>
          <a:stretch>
            <a:fillRect/>
          </a:stretch>
        </p:blipFill>
        <p:spPr>
          <a:xfrm>
            <a:off x="1993429" y="7014661"/>
            <a:ext cx="14746758" cy="1305107"/>
          </a:xfrm>
          <a:prstGeom prst="rect">
            <a:avLst/>
          </a:prstGeom>
          <a:ln>
            <a:noFill/>
          </a:ln>
          <a:effectLst>
            <a:outerShdw blurRad="190500" algn="tl" rotWithShape="0">
              <a:srgbClr val="000000">
                <a:alpha val="70000"/>
              </a:srgbClr>
            </a:outerShdw>
          </a:effectLst>
        </p:spPr>
      </p:pic>
      <p:pic>
        <p:nvPicPr>
          <p:cNvPr id="8" name="صورة 7">
            <a:extLst>
              <a:ext uri="{FF2B5EF4-FFF2-40B4-BE49-F238E27FC236}">
                <a16:creationId xmlns:a16="http://schemas.microsoft.com/office/drawing/2014/main" id="{FCF08F50-61BD-4FCD-9165-B7C76FED90AF}"/>
              </a:ext>
            </a:extLst>
          </p:cNvPr>
          <p:cNvPicPr>
            <a:picLocks noChangeAspect="1"/>
          </p:cNvPicPr>
          <p:nvPr/>
        </p:nvPicPr>
        <p:blipFill>
          <a:blip r:embed="rId5"/>
          <a:stretch>
            <a:fillRect/>
          </a:stretch>
        </p:blipFill>
        <p:spPr>
          <a:xfrm>
            <a:off x="1337168" y="2928893"/>
            <a:ext cx="6555648" cy="31329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p>
        </p:txBody>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grpSp>
        <p:nvGrpSpPr>
          <p:cNvPr id="7" name="Group 7"/>
          <p:cNvGrpSpPr/>
          <p:nvPr/>
        </p:nvGrpSpPr>
        <p:grpSpPr>
          <a:xfrm>
            <a:off x="1912730" y="3031972"/>
            <a:ext cx="13015978" cy="2470040"/>
            <a:chOff x="0" y="0"/>
            <a:chExt cx="3979768" cy="733084"/>
          </a:xfrm>
        </p:grpSpPr>
        <p:sp>
          <p:nvSpPr>
            <p:cNvPr id="8" name="Freeform 8"/>
            <p:cNvSpPr/>
            <p:nvPr/>
          </p:nvSpPr>
          <p:spPr>
            <a:xfrm>
              <a:off x="0" y="0"/>
              <a:ext cx="3979768" cy="733084"/>
            </a:xfrm>
            <a:custGeom>
              <a:avLst/>
              <a:gdLst/>
              <a:ahLst/>
              <a:cxnLst/>
              <a:rect l="l" t="t" r="r" b="b"/>
              <a:pathLst>
                <a:path w="3979768" h="733084">
                  <a:moveTo>
                    <a:pt x="10112" y="0"/>
                  </a:moveTo>
                  <a:lnTo>
                    <a:pt x="3969656" y="0"/>
                  </a:lnTo>
                  <a:cubicBezTo>
                    <a:pt x="3975240" y="0"/>
                    <a:pt x="3979768" y="4527"/>
                    <a:pt x="3979768" y="10112"/>
                  </a:cubicBezTo>
                  <a:lnTo>
                    <a:pt x="3979768" y="722972"/>
                  </a:lnTo>
                  <a:cubicBezTo>
                    <a:pt x="3979768" y="725654"/>
                    <a:pt x="3978702" y="728226"/>
                    <a:pt x="3976806" y="730122"/>
                  </a:cubicBezTo>
                  <a:cubicBezTo>
                    <a:pt x="3974910" y="732019"/>
                    <a:pt x="3972338" y="733084"/>
                    <a:pt x="3969656" y="733084"/>
                  </a:cubicBezTo>
                  <a:lnTo>
                    <a:pt x="10112" y="733084"/>
                  </a:lnTo>
                  <a:cubicBezTo>
                    <a:pt x="4527" y="733084"/>
                    <a:pt x="0" y="728557"/>
                    <a:pt x="0" y="722972"/>
                  </a:cubicBezTo>
                  <a:lnTo>
                    <a:pt x="0" y="10112"/>
                  </a:lnTo>
                  <a:cubicBezTo>
                    <a:pt x="0" y="4527"/>
                    <a:pt x="4527" y="0"/>
                    <a:pt x="10112" y="0"/>
                  </a:cubicBezTo>
                  <a:close/>
                </a:path>
              </a:pathLst>
            </a:custGeom>
            <a:solidFill>
              <a:srgbClr val="FFFFFF">
                <a:alpha val="15686"/>
              </a:srgbClr>
            </a:solidFill>
          </p:spPr>
          <p:txBody>
            <a:bodyPr/>
            <a:lstStyle/>
            <a:p>
              <a:endParaRPr lang="en-US" dirty="0">
                <a:cs typeface="+mj-cs"/>
              </a:endParaRPr>
            </a:p>
          </p:txBody>
        </p:sp>
        <p:sp>
          <p:nvSpPr>
            <p:cNvPr id="9" name="TextBox 9"/>
            <p:cNvSpPr txBox="1"/>
            <p:nvPr/>
          </p:nvSpPr>
          <p:spPr>
            <a:xfrm>
              <a:off x="0" y="-47625"/>
              <a:ext cx="3979768" cy="780709"/>
            </a:xfrm>
            <a:prstGeom prst="rect">
              <a:avLst/>
            </a:prstGeom>
          </p:spPr>
          <p:txBody>
            <a:bodyPr lIns="50800" tIns="50800" rIns="50800" bIns="50800" rtlCol="0" anchor="ctr"/>
            <a:lstStyle/>
            <a:p>
              <a:pPr algn="ctr">
                <a:lnSpc>
                  <a:spcPts val="3146"/>
                </a:lnSpc>
              </a:pPr>
              <a:endParaRPr>
                <a:cs typeface="+mj-cs"/>
              </a:endParaRPr>
            </a:p>
          </p:txBody>
        </p:sp>
      </p:grpSp>
      <p:grpSp>
        <p:nvGrpSpPr>
          <p:cNvPr id="10" name="Group 10"/>
          <p:cNvGrpSpPr/>
          <p:nvPr/>
        </p:nvGrpSpPr>
        <p:grpSpPr>
          <a:xfrm>
            <a:off x="1922569" y="5736028"/>
            <a:ext cx="12965381" cy="2419608"/>
            <a:chOff x="0" y="0"/>
            <a:chExt cx="3979768" cy="733084"/>
          </a:xfrm>
        </p:grpSpPr>
        <p:sp>
          <p:nvSpPr>
            <p:cNvPr id="11" name="Freeform 11"/>
            <p:cNvSpPr/>
            <p:nvPr/>
          </p:nvSpPr>
          <p:spPr>
            <a:xfrm>
              <a:off x="0" y="0"/>
              <a:ext cx="3979768" cy="733084"/>
            </a:xfrm>
            <a:custGeom>
              <a:avLst/>
              <a:gdLst/>
              <a:ahLst/>
              <a:cxnLst/>
              <a:rect l="l" t="t" r="r" b="b"/>
              <a:pathLst>
                <a:path w="3979768" h="733084">
                  <a:moveTo>
                    <a:pt x="10112" y="0"/>
                  </a:moveTo>
                  <a:lnTo>
                    <a:pt x="3969656" y="0"/>
                  </a:lnTo>
                  <a:cubicBezTo>
                    <a:pt x="3975240" y="0"/>
                    <a:pt x="3979768" y="4527"/>
                    <a:pt x="3979768" y="10112"/>
                  </a:cubicBezTo>
                  <a:lnTo>
                    <a:pt x="3979768" y="722972"/>
                  </a:lnTo>
                  <a:cubicBezTo>
                    <a:pt x="3979768" y="725654"/>
                    <a:pt x="3978702" y="728226"/>
                    <a:pt x="3976806" y="730122"/>
                  </a:cubicBezTo>
                  <a:cubicBezTo>
                    <a:pt x="3974910" y="732019"/>
                    <a:pt x="3972338" y="733084"/>
                    <a:pt x="3969656" y="733084"/>
                  </a:cubicBezTo>
                  <a:lnTo>
                    <a:pt x="10112" y="733084"/>
                  </a:lnTo>
                  <a:cubicBezTo>
                    <a:pt x="4527" y="733084"/>
                    <a:pt x="0" y="728557"/>
                    <a:pt x="0" y="722972"/>
                  </a:cubicBezTo>
                  <a:lnTo>
                    <a:pt x="0" y="10112"/>
                  </a:lnTo>
                  <a:cubicBezTo>
                    <a:pt x="0" y="4527"/>
                    <a:pt x="4527" y="0"/>
                    <a:pt x="10112" y="0"/>
                  </a:cubicBezTo>
                  <a:close/>
                </a:path>
              </a:pathLst>
            </a:custGeom>
            <a:solidFill>
              <a:srgbClr val="FFFFFF">
                <a:alpha val="15686"/>
              </a:srgbClr>
            </a:solidFill>
          </p:spPr>
        </p:sp>
        <p:sp>
          <p:nvSpPr>
            <p:cNvPr id="12" name="TextBox 12"/>
            <p:cNvSpPr txBox="1"/>
            <p:nvPr/>
          </p:nvSpPr>
          <p:spPr>
            <a:xfrm>
              <a:off x="0" y="-47625"/>
              <a:ext cx="3979768" cy="780709"/>
            </a:xfrm>
            <a:prstGeom prst="rect">
              <a:avLst/>
            </a:prstGeom>
          </p:spPr>
          <p:txBody>
            <a:bodyPr lIns="50800" tIns="50800" rIns="50800" bIns="50800" rtlCol="0" anchor="ctr"/>
            <a:lstStyle/>
            <a:p>
              <a:pPr algn="ctr">
                <a:lnSpc>
                  <a:spcPts val="3146"/>
                </a:lnSpc>
              </a:pPr>
              <a:endParaRPr>
                <a:cs typeface="+mj-cs"/>
              </a:endParaRPr>
            </a:p>
          </p:txBody>
        </p:sp>
      </p:grpSp>
      <p:sp>
        <p:nvSpPr>
          <p:cNvPr id="17" name="TextBox 17"/>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MMCS</a:t>
            </a:r>
          </a:p>
        </p:txBody>
      </p:sp>
      <p:sp>
        <p:nvSpPr>
          <p:cNvPr id="20" name="TextBox 20"/>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Page 13</a:t>
            </a:r>
          </a:p>
        </p:txBody>
      </p:sp>
      <p:sp>
        <p:nvSpPr>
          <p:cNvPr id="21" name="TextBox 21"/>
          <p:cNvSpPr txBox="1"/>
          <p:nvPr/>
        </p:nvSpPr>
        <p:spPr>
          <a:xfrm>
            <a:off x="2976930" y="3470876"/>
            <a:ext cx="5645576" cy="1592231"/>
          </a:xfrm>
          <a:prstGeom prst="rect">
            <a:avLst/>
          </a:prstGeom>
        </p:spPr>
        <p:txBody>
          <a:bodyPr wrap="square" lIns="0" tIns="0" rIns="0" bIns="0" rtlCol="0" anchor="t">
            <a:spAutoFit/>
          </a:bodyPr>
          <a:lstStyle/>
          <a:p>
            <a:pPr marL="342900" indent="-342900" algn="r" rtl="1">
              <a:lnSpc>
                <a:spcPct val="200000"/>
              </a:lnSpc>
              <a:buFont typeface="Arial" panose="020B0604020202020204" pitchFamily="34" charset="0"/>
              <a:buChar char="•"/>
            </a:pPr>
            <a:r>
              <a:rPr lang="ar-EG" sz="2800" dirty="0">
                <a:solidFill>
                  <a:srgbClr val="FFFFFF"/>
                </a:solidFill>
                <a:latin typeface="Microsoft YaHei Light" panose="020B0502040204020203" pitchFamily="34" charset="-122"/>
                <a:ea typeface="Microsoft YaHei Light" panose="020B0502040204020203" pitchFamily="34" charset="-122"/>
                <a:cs typeface="+mj-cs"/>
                <a:sym typeface="B612"/>
                <a:rtl/>
              </a:rPr>
              <a:t>الإفراط في التدريب </a:t>
            </a:r>
            <a:r>
              <a:rPr lang="en-US" sz="2800" dirty="0">
                <a:solidFill>
                  <a:srgbClr val="FFFFFF"/>
                </a:solidFill>
                <a:latin typeface="Microsoft YaHei Light" panose="020B0502040204020203" pitchFamily="34" charset="-122"/>
                <a:ea typeface="Microsoft YaHei Light" panose="020B0502040204020203" pitchFamily="34" charset="-122"/>
                <a:cs typeface="+mj-cs"/>
                <a:sym typeface="B612"/>
                <a:rtl/>
              </a:rPr>
              <a:t>Overfitting</a:t>
            </a:r>
          </a:p>
          <a:p>
            <a:pPr marL="342900" indent="-342900" algn="r" rtl="1">
              <a:lnSpc>
                <a:spcPct val="200000"/>
              </a:lnSpc>
              <a:buFont typeface="Arial" panose="020B0604020202020204" pitchFamily="34" charset="0"/>
              <a:buChar char="•"/>
            </a:pPr>
            <a:r>
              <a:rPr lang="ar-EG" sz="2800" dirty="0">
                <a:solidFill>
                  <a:srgbClr val="FFFFFF"/>
                </a:solidFill>
                <a:latin typeface="Microsoft YaHei Light" panose="020B0502040204020203" pitchFamily="34" charset="-122"/>
                <a:ea typeface="Microsoft YaHei Light" panose="020B0502040204020203" pitchFamily="34" charset="-122"/>
                <a:cs typeface="+mj-cs"/>
                <a:sym typeface="B612"/>
                <a:rtl/>
              </a:rPr>
              <a:t>عدم كفاية البيانات.</a:t>
            </a:r>
          </a:p>
        </p:txBody>
      </p:sp>
      <p:sp>
        <p:nvSpPr>
          <p:cNvPr id="23" name="TextBox 23"/>
          <p:cNvSpPr txBox="1"/>
          <p:nvPr/>
        </p:nvSpPr>
        <p:spPr>
          <a:xfrm>
            <a:off x="10250660" y="3845694"/>
            <a:ext cx="3298455" cy="527067"/>
          </a:xfrm>
          <a:prstGeom prst="rect">
            <a:avLst/>
          </a:prstGeom>
        </p:spPr>
        <p:txBody>
          <a:bodyPr wrap="square" lIns="0" tIns="0" rIns="0" bIns="0" rtlCol="0" anchor="t">
            <a:spAutoFit/>
          </a:bodyPr>
          <a:lstStyle/>
          <a:p>
            <a:pPr algn="r" rtl="1">
              <a:lnSpc>
                <a:spcPts val="4191"/>
              </a:lnSpc>
            </a:pPr>
            <a:r>
              <a:rPr lang="ar-SY" sz="3200" b="1" dirty="0">
                <a:solidFill>
                  <a:srgbClr val="FFFFFF"/>
                </a:solidFill>
                <a:latin typeface="B612 Bold"/>
                <a:ea typeface="B612 Bold"/>
                <a:cs typeface="+mj-cs"/>
                <a:sym typeface="B612 Bold"/>
                <a:rtl/>
              </a:rPr>
              <a:t>التحديات</a:t>
            </a:r>
            <a:endParaRPr lang="en-US" sz="3200" b="1" dirty="0">
              <a:solidFill>
                <a:srgbClr val="FFFFFF"/>
              </a:solidFill>
              <a:latin typeface="B612 Bold"/>
              <a:ea typeface="B612 Bold"/>
              <a:cs typeface="+mj-cs"/>
              <a:sym typeface="B612 Bold"/>
              <a:rtl/>
            </a:endParaRPr>
          </a:p>
        </p:txBody>
      </p:sp>
      <p:sp>
        <p:nvSpPr>
          <p:cNvPr id="24" name="TextBox 24"/>
          <p:cNvSpPr txBox="1"/>
          <p:nvPr/>
        </p:nvSpPr>
        <p:spPr>
          <a:xfrm>
            <a:off x="10977190" y="6603703"/>
            <a:ext cx="2500280" cy="527067"/>
          </a:xfrm>
          <a:prstGeom prst="rect">
            <a:avLst/>
          </a:prstGeom>
        </p:spPr>
        <p:txBody>
          <a:bodyPr wrap="square" lIns="0" tIns="0" rIns="0" bIns="0" rtlCol="0" anchor="t">
            <a:spAutoFit/>
          </a:bodyPr>
          <a:lstStyle/>
          <a:p>
            <a:pPr algn="r" rtl="1">
              <a:lnSpc>
                <a:spcPts val="4191"/>
              </a:lnSpc>
            </a:pPr>
            <a:r>
              <a:rPr lang="ar-SY" sz="3200" b="1" dirty="0">
                <a:solidFill>
                  <a:srgbClr val="FFFFFF"/>
                </a:solidFill>
                <a:latin typeface="B612 Bold"/>
                <a:ea typeface="B612 Bold"/>
                <a:cs typeface="+mj-cs"/>
                <a:sym typeface="B612 Bold"/>
                <a:rtl/>
              </a:rPr>
              <a:t>الحلول</a:t>
            </a:r>
            <a:endParaRPr lang="en-US" sz="3200" b="1" dirty="0">
              <a:solidFill>
                <a:srgbClr val="FFFFFF"/>
              </a:solidFill>
              <a:latin typeface="B612 Bold"/>
              <a:ea typeface="B612 Bold"/>
              <a:cs typeface="+mj-cs"/>
              <a:sym typeface="B612 Bold"/>
              <a:rtl/>
            </a:endParaRPr>
          </a:p>
        </p:txBody>
      </p:sp>
      <p:sp>
        <p:nvSpPr>
          <p:cNvPr id="25" name="TextBox 25"/>
          <p:cNvSpPr txBox="1"/>
          <p:nvPr/>
        </p:nvSpPr>
        <p:spPr>
          <a:xfrm>
            <a:off x="6437415" y="1858988"/>
            <a:ext cx="3814607" cy="620363"/>
          </a:xfrm>
          <a:prstGeom prst="rect">
            <a:avLst/>
          </a:prstGeom>
        </p:spPr>
        <p:txBody>
          <a:bodyPr wrap="square" lIns="0" tIns="0" rIns="0" bIns="0" rtlCol="0" anchor="t">
            <a:spAutoFit/>
          </a:bodyPr>
          <a:lstStyle/>
          <a:p>
            <a:pPr algn="ctr" rtl="1">
              <a:lnSpc>
                <a:spcPts val="5163"/>
              </a:lnSpc>
              <a:spcBef>
                <a:spcPct val="0"/>
              </a:spcBef>
            </a:pPr>
            <a:r>
              <a:rPr lang="ar-SY" sz="4000" b="1" dirty="0">
                <a:solidFill>
                  <a:srgbClr val="FFFFFF"/>
                </a:solidFill>
                <a:latin typeface="B612 Bold"/>
                <a:ea typeface="B612 Bold"/>
                <a:cs typeface="+mj-cs"/>
                <a:sym typeface="B612 Bold"/>
                <a:rtl/>
              </a:rPr>
              <a:t>التحديات والحلول</a:t>
            </a:r>
            <a:endParaRPr lang="ar-EG" sz="4000" b="1" dirty="0">
              <a:solidFill>
                <a:srgbClr val="FFFFFF"/>
              </a:solidFill>
              <a:latin typeface="B612 Bold"/>
              <a:ea typeface="B612 Bold"/>
              <a:cs typeface="+mj-cs"/>
              <a:sym typeface="B612 Bold"/>
              <a:rtl/>
            </a:endParaRPr>
          </a:p>
        </p:txBody>
      </p:sp>
      <p:sp>
        <p:nvSpPr>
          <p:cNvPr id="27" name="مربع نص 26">
            <a:extLst>
              <a:ext uri="{FF2B5EF4-FFF2-40B4-BE49-F238E27FC236}">
                <a16:creationId xmlns:a16="http://schemas.microsoft.com/office/drawing/2014/main" id="{524C2539-B1EE-4081-8723-8A0DE3D2DB7D}"/>
              </a:ext>
            </a:extLst>
          </p:cNvPr>
          <p:cNvSpPr txBox="1"/>
          <p:nvPr/>
        </p:nvSpPr>
        <p:spPr>
          <a:xfrm>
            <a:off x="1960949" y="5791530"/>
            <a:ext cx="6699937" cy="1958037"/>
          </a:xfrm>
          <a:prstGeom prst="rect">
            <a:avLst/>
          </a:prstGeom>
          <a:noFill/>
        </p:spPr>
        <p:txBody>
          <a:bodyPr wrap="square">
            <a:spAutoFit/>
          </a:bodyPr>
          <a:lstStyle/>
          <a:p>
            <a:pPr algn="r" rtl="1">
              <a:lnSpc>
                <a:spcPct val="150000"/>
              </a:lnSpc>
              <a:buFont typeface="Arial" panose="020B0604020202020204" pitchFamily="34" charset="0"/>
              <a:buChar char="•"/>
            </a:pPr>
            <a:r>
              <a:rPr lang="en-US" sz="2800" b="0" i="0" dirty="0">
                <a:solidFill>
                  <a:schemeClr val="bg1"/>
                </a:solidFill>
                <a:effectLst/>
                <a:latin typeface="Microsoft YaHei Light" panose="020B0502040204020203" pitchFamily="34" charset="-122"/>
                <a:ea typeface="Microsoft YaHei Light" panose="020B0502040204020203" pitchFamily="34" charset="-122"/>
              </a:rPr>
              <a:t>  </a:t>
            </a:r>
            <a:r>
              <a:rPr lang="ar-SY" sz="2800" b="0" i="0" dirty="0">
                <a:solidFill>
                  <a:schemeClr val="bg1"/>
                </a:solidFill>
                <a:effectLst/>
                <a:latin typeface="Microsoft YaHei Light" panose="020B0502040204020203" pitchFamily="34" charset="-122"/>
                <a:ea typeface="Microsoft YaHei Light" panose="020B0502040204020203" pitchFamily="34" charset="-122"/>
              </a:rPr>
              <a:t>استخدام </a:t>
            </a:r>
            <a:r>
              <a:rPr lang="en-US" sz="2800" b="0" i="0" dirty="0">
                <a:solidFill>
                  <a:schemeClr val="bg1"/>
                </a:solidFill>
                <a:effectLst/>
                <a:latin typeface="Microsoft YaHei Light" panose="020B0502040204020203" pitchFamily="34" charset="-122"/>
                <a:ea typeface="Microsoft YaHei Light" panose="020B0502040204020203" pitchFamily="34" charset="-122"/>
              </a:rPr>
              <a:t>Data Augmentation</a:t>
            </a:r>
          </a:p>
          <a:p>
            <a:pPr algn="r" rtl="1">
              <a:lnSpc>
                <a:spcPct val="150000"/>
              </a:lnSpc>
              <a:buFont typeface="Arial" panose="020B0604020202020204" pitchFamily="34" charset="0"/>
              <a:buChar char="•"/>
            </a:pPr>
            <a:r>
              <a:rPr lang="en-US" sz="2800" b="0" i="0" dirty="0">
                <a:solidFill>
                  <a:schemeClr val="bg1"/>
                </a:solidFill>
                <a:effectLst/>
                <a:latin typeface="Microsoft YaHei Light" panose="020B0502040204020203" pitchFamily="34" charset="-122"/>
                <a:ea typeface="Microsoft YaHei Light" panose="020B0502040204020203" pitchFamily="34" charset="-122"/>
              </a:rPr>
              <a:t>  </a:t>
            </a:r>
            <a:r>
              <a:rPr lang="ar-SY" sz="2800" b="0" i="0" dirty="0">
                <a:solidFill>
                  <a:schemeClr val="bg1"/>
                </a:solidFill>
                <a:effectLst/>
                <a:latin typeface="Microsoft YaHei Light" panose="020B0502040204020203" pitchFamily="34" charset="-122"/>
                <a:ea typeface="Microsoft YaHei Light" panose="020B0502040204020203" pitchFamily="34" charset="-122"/>
              </a:rPr>
              <a:t>تغيير مجموعة البيانات إلى </a:t>
            </a:r>
            <a:r>
              <a:rPr lang="en-US" sz="2800" b="0" i="0" dirty="0">
                <a:solidFill>
                  <a:schemeClr val="bg1"/>
                </a:solidFill>
                <a:effectLst/>
                <a:latin typeface="Microsoft YaHei Light" panose="020B0502040204020203" pitchFamily="34" charset="-122"/>
                <a:ea typeface="Microsoft YaHei Light" panose="020B0502040204020203" pitchFamily="34" charset="-122"/>
              </a:rPr>
              <a:t>Turkish Music Emotion Dataset.</a:t>
            </a:r>
          </a:p>
        </p:txBody>
      </p:sp>
      <p:sp>
        <p:nvSpPr>
          <p:cNvPr id="26" name="TextBox 11">
            <a:extLst>
              <a:ext uri="{FF2B5EF4-FFF2-40B4-BE49-F238E27FC236}">
                <a16:creationId xmlns:a16="http://schemas.microsoft.com/office/drawing/2014/main" id="{CE306E4D-6DBC-44B0-9D76-CB21F822D1F5}"/>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pic>
        <p:nvPicPr>
          <p:cNvPr id="19" name="صورة 18">
            <a:extLst>
              <a:ext uri="{FF2B5EF4-FFF2-40B4-BE49-F238E27FC236}">
                <a16:creationId xmlns:a16="http://schemas.microsoft.com/office/drawing/2014/main" id="{63C43965-B236-4FE2-8BE1-E848FC88D7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914365" y="3317838"/>
            <a:ext cx="3242697" cy="18240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8" name="صورة 27">
            <a:extLst>
              <a:ext uri="{FF2B5EF4-FFF2-40B4-BE49-F238E27FC236}">
                <a16:creationId xmlns:a16="http://schemas.microsoft.com/office/drawing/2014/main" id="{F6243760-4E78-4B1C-A336-43B3DAD491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30560" y="5948241"/>
            <a:ext cx="3338220" cy="18777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74714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5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4" name="AutoShape 4"/>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5" name="AutoShape 5"/>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6" name="AutoShape 6"/>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sp>
        <p:nvSpPr>
          <p:cNvPr id="16" name="TextBox 16"/>
          <p:cNvSpPr txBox="1"/>
          <p:nvPr/>
        </p:nvSpPr>
        <p:spPr>
          <a:xfrm>
            <a:off x="1871973" y="8529606"/>
            <a:ext cx="1114462"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Page 14</a:t>
            </a:r>
          </a:p>
        </p:txBody>
      </p:sp>
      <p:sp>
        <p:nvSpPr>
          <p:cNvPr id="17" name="TextBox 17"/>
          <p:cNvSpPr txBox="1"/>
          <p:nvPr/>
        </p:nvSpPr>
        <p:spPr>
          <a:xfrm>
            <a:off x="6054800" y="1771542"/>
            <a:ext cx="4258023" cy="620363"/>
          </a:xfrm>
          <a:prstGeom prst="rect">
            <a:avLst/>
          </a:prstGeom>
        </p:spPr>
        <p:txBody>
          <a:bodyPr wrap="square" lIns="0" tIns="0" rIns="0" bIns="0" rtlCol="0" anchor="t">
            <a:spAutoFit/>
          </a:bodyPr>
          <a:lstStyle/>
          <a:p>
            <a:pPr algn="ctr" rtl="1">
              <a:lnSpc>
                <a:spcPts val="5163"/>
              </a:lnSpc>
              <a:spcBef>
                <a:spcPct val="0"/>
              </a:spcBef>
            </a:pPr>
            <a:r>
              <a:rPr lang="ar-SY" sz="4000" b="1" dirty="0">
                <a:solidFill>
                  <a:srgbClr val="FFFFFF"/>
                </a:solidFill>
                <a:latin typeface="B612 Bold"/>
                <a:ea typeface="B612 Bold"/>
                <a:cs typeface="+mj-cs"/>
                <a:sym typeface="B612 Bold"/>
                <a:rtl/>
              </a:rPr>
              <a:t>التطبيقات المستقبلية</a:t>
            </a:r>
            <a:endParaRPr lang="ar-EG" sz="4000" b="1" dirty="0">
              <a:solidFill>
                <a:srgbClr val="FFFFFF"/>
              </a:solidFill>
              <a:latin typeface="B612 Bold"/>
              <a:ea typeface="B612 Bold"/>
              <a:cs typeface="+mj-cs"/>
              <a:sym typeface="B612 Bold"/>
              <a:rtl/>
            </a:endParaRPr>
          </a:p>
        </p:txBody>
      </p:sp>
      <p:sp>
        <p:nvSpPr>
          <p:cNvPr id="23" name="TextBox 23"/>
          <p:cNvSpPr txBox="1"/>
          <p:nvPr/>
        </p:nvSpPr>
        <p:spPr>
          <a:xfrm>
            <a:off x="3358453" y="3470433"/>
            <a:ext cx="11039357" cy="3349460"/>
          </a:xfrm>
          <a:prstGeom prst="rect">
            <a:avLst/>
          </a:prstGeom>
        </p:spPr>
        <p:txBody>
          <a:bodyPr wrap="square" lIns="0" tIns="0" rIns="0" bIns="0" rtlCol="0" anchor="t">
            <a:spAutoFit/>
          </a:bodyPr>
          <a:lstStyle/>
          <a:p>
            <a:pPr marL="571500" indent="-571500" algn="r" rtl="1">
              <a:lnSpc>
                <a:spcPct val="150000"/>
              </a:lnSpc>
              <a:spcBef>
                <a:spcPct val="0"/>
              </a:spcBef>
              <a:buFont typeface="Wingdings" panose="05000000000000000000" pitchFamily="2" charset="2"/>
              <a:buChar char="q"/>
            </a:pPr>
            <a:r>
              <a:rPr lang="ar-SY" sz="3600" dirty="0">
                <a:solidFill>
                  <a:srgbClr val="FBF9F1"/>
                </a:solidFill>
                <a:latin typeface="Cairo Bold"/>
                <a:ea typeface="Cairo Bold"/>
                <a:cs typeface="+mj-cs"/>
                <a:sym typeface="Cairo Bold"/>
              </a:rPr>
              <a:t>تطبيقات في مجالات مثل التوصيات الموسيقية، العلاج النفسي، والأبحاث الأكاديمية.</a:t>
            </a:r>
          </a:p>
          <a:p>
            <a:pPr marL="571500" indent="-571500" algn="r" rtl="1">
              <a:lnSpc>
                <a:spcPct val="150000"/>
              </a:lnSpc>
              <a:spcBef>
                <a:spcPct val="0"/>
              </a:spcBef>
              <a:buFont typeface="Wingdings" panose="05000000000000000000" pitchFamily="2" charset="2"/>
              <a:buChar char="q"/>
            </a:pPr>
            <a:r>
              <a:rPr lang="ar-SY" sz="3600" dirty="0">
                <a:solidFill>
                  <a:srgbClr val="FBF9F1"/>
                </a:solidFill>
                <a:latin typeface="Cairo Bold"/>
                <a:ea typeface="Cairo Bold"/>
                <a:cs typeface="+mj-cs"/>
                <a:sym typeface="Cairo Bold"/>
              </a:rPr>
              <a:t>توسيع النظام ليشمل المزيد من الفئات المزاجية أو أنواع البيانات.</a:t>
            </a:r>
          </a:p>
          <a:p>
            <a:pPr marL="571500" indent="-571500" algn="r" rtl="1">
              <a:lnSpc>
                <a:spcPct val="150000"/>
              </a:lnSpc>
              <a:spcBef>
                <a:spcPct val="0"/>
              </a:spcBef>
              <a:buFont typeface="Wingdings" panose="05000000000000000000" pitchFamily="2" charset="2"/>
              <a:buChar char="q"/>
            </a:pPr>
            <a:r>
              <a:rPr lang="ar-SY" sz="3600" dirty="0">
                <a:solidFill>
                  <a:srgbClr val="FBF9F1"/>
                </a:solidFill>
                <a:latin typeface="Cairo Bold"/>
                <a:ea typeface="Cairo Bold"/>
                <a:cs typeface="+mj-cs"/>
                <a:sym typeface="Cairo Bold"/>
              </a:rPr>
              <a:t>تحسين دقة التحليل واستخدام تقنيات أكثر تقدمًا.</a:t>
            </a:r>
          </a:p>
        </p:txBody>
      </p:sp>
      <p:sp>
        <p:nvSpPr>
          <p:cNvPr id="18" name="TextBox 11">
            <a:extLst>
              <a:ext uri="{FF2B5EF4-FFF2-40B4-BE49-F238E27FC236}">
                <a16:creationId xmlns:a16="http://schemas.microsoft.com/office/drawing/2014/main" id="{8A8EC9A8-68F7-44C9-8448-9EC8EFB9E1F1}"/>
              </a:ext>
            </a:extLst>
          </p:cNvPr>
          <p:cNvSpPr txBox="1"/>
          <p:nvPr/>
        </p:nvSpPr>
        <p:spPr>
          <a:xfrm>
            <a:off x="11899888" y="9043956"/>
            <a:ext cx="4465543" cy="436658"/>
          </a:xfrm>
          <a:prstGeom prst="rect">
            <a:avLst/>
          </a:prstGeom>
        </p:spPr>
        <p:txBody>
          <a:bodyPr lIns="0" tIns="0" rIns="0" bIns="0" rtlCol="0" anchor="t">
            <a:spAutoFit/>
          </a:bodyPr>
          <a:lstStyle/>
          <a:p>
            <a:pPr algn="r">
              <a:lnSpc>
                <a:spcPts val="3146"/>
              </a:lnSpc>
            </a:pPr>
            <a:r>
              <a:rPr lang="ar-SY" sz="3200" dirty="0">
                <a:solidFill>
                  <a:schemeClr val="accent6">
                    <a:lumMod val="40000"/>
                    <a:lumOff val="60000"/>
                  </a:schemeClr>
                </a:solidFill>
                <a:latin typeface="B612"/>
                <a:ea typeface="B612"/>
                <a:cs typeface="+mj-cs"/>
                <a:sym typeface="B612"/>
              </a:rPr>
              <a:t>تصنيف المزاج الموسيقي</a:t>
            </a:r>
            <a:endParaRPr lang="en-US" sz="3200" dirty="0">
              <a:solidFill>
                <a:schemeClr val="accent6">
                  <a:lumMod val="40000"/>
                  <a:lumOff val="60000"/>
                </a:schemeClr>
              </a:solidFill>
              <a:latin typeface="B612"/>
              <a:ea typeface="B612"/>
              <a:cs typeface="+mj-cs"/>
              <a:sym typeface="B612"/>
            </a:endParaRPr>
          </a:p>
        </p:txBody>
      </p:sp>
      <p:sp>
        <p:nvSpPr>
          <p:cNvPr id="19" name="TextBox 17">
            <a:extLst>
              <a:ext uri="{FF2B5EF4-FFF2-40B4-BE49-F238E27FC236}">
                <a16:creationId xmlns:a16="http://schemas.microsoft.com/office/drawing/2014/main" id="{5AAC192C-01C0-4B32-9B8E-B8384527646F}"/>
              </a:ext>
            </a:extLst>
          </p:cNvPr>
          <p:cNvSpPr txBox="1"/>
          <p:nvPr/>
        </p:nvSpPr>
        <p:spPr>
          <a:xfrm>
            <a:off x="1824348" y="842931"/>
            <a:ext cx="312053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mj-cs"/>
                <a:sym typeface="B612"/>
              </a:rPr>
              <a:t>MMCS</a:t>
            </a:r>
          </a:p>
        </p:txBody>
      </p:sp>
    </p:spTree>
    <p:extLst>
      <p:ext uri="{BB962C8B-B14F-4D97-AF65-F5344CB8AC3E}">
        <p14:creationId xmlns:p14="http://schemas.microsoft.com/office/powerpoint/2010/main" val="3652657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p>
        </p:txBody>
      </p:sp>
      <p:sp>
        <p:nvSpPr>
          <p:cNvPr id="3" name="TextBox 3"/>
          <p:cNvSpPr txBox="1"/>
          <p:nvPr/>
        </p:nvSpPr>
        <p:spPr>
          <a:xfrm>
            <a:off x="4747453" y="3134444"/>
            <a:ext cx="8963806" cy="1677055"/>
          </a:xfrm>
          <a:prstGeom prst="rect">
            <a:avLst/>
          </a:prstGeom>
        </p:spPr>
        <p:txBody>
          <a:bodyPr lIns="0" tIns="0" rIns="0" bIns="0" rtlCol="0" anchor="t">
            <a:spAutoFit/>
          </a:bodyPr>
          <a:lstStyle/>
          <a:p>
            <a:pPr marL="0" lvl="0" indent="0" algn="ctr">
              <a:lnSpc>
                <a:spcPts val="12618"/>
              </a:lnSpc>
              <a:spcBef>
                <a:spcPct val="0"/>
              </a:spcBef>
            </a:pPr>
            <a:r>
              <a:rPr lang="en-US" sz="12618" b="1" dirty="0">
                <a:solidFill>
                  <a:srgbClr val="FFFFFF"/>
                </a:solidFill>
                <a:latin typeface="Arial Rounded MT Bold" panose="020F0704030504030204" pitchFamily="34" charset="0"/>
                <a:ea typeface="B612 Bold"/>
                <a:cs typeface="B612 Bold"/>
                <a:sym typeface="B612 Bold"/>
              </a:rPr>
              <a:t>Thank You</a:t>
            </a:r>
          </a:p>
        </p:txBody>
      </p:sp>
      <p:sp>
        <p:nvSpPr>
          <p:cNvPr id="4" name="TextBox 4"/>
          <p:cNvSpPr txBox="1"/>
          <p:nvPr/>
        </p:nvSpPr>
        <p:spPr>
          <a:xfrm>
            <a:off x="1824348" y="842931"/>
            <a:ext cx="3873623" cy="369012"/>
          </a:xfrm>
          <a:prstGeom prst="rect">
            <a:avLst/>
          </a:prstGeom>
        </p:spPr>
        <p:txBody>
          <a:bodyPr lIns="0" tIns="0" rIns="0" bIns="0" rtlCol="0" anchor="t">
            <a:spAutoFit/>
          </a:bodyPr>
          <a:lstStyle/>
          <a:p>
            <a:pPr algn="l">
              <a:lnSpc>
                <a:spcPts val="3146"/>
              </a:lnSpc>
            </a:pPr>
            <a:r>
              <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rPr>
              <a:t>MMCS</a:t>
            </a:r>
          </a:p>
        </p:txBody>
      </p:sp>
      <p:sp>
        <p:nvSpPr>
          <p:cNvPr id="5" name="TextBox 5"/>
          <p:cNvSpPr txBox="1"/>
          <p:nvPr/>
        </p:nvSpPr>
        <p:spPr>
          <a:xfrm>
            <a:off x="4860682" y="6648245"/>
            <a:ext cx="8850577" cy="383951"/>
          </a:xfrm>
          <a:prstGeom prst="rect">
            <a:avLst/>
          </a:prstGeom>
        </p:spPr>
        <p:txBody>
          <a:bodyPr lIns="0" tIns="0" rIns="0" bIns="0" rtlCol="0" anchor="t">
            <a:spAutoFit/>
          </a:bodyPr>
          <a:lstStyle/>
          <a:p>
            <a:pPr algn="ctr">
              <a:lnSpc>
                <a:spcPts val="3321"/>
              </a:lnSpc>
            </a:pPr>
            <a:r>
              <a:rPr lang="en-US" sz="2372" spc="308" dirty="0">
                <a:solidFill>
                  <a:srgbClr val="FFFFFF"/>
                </a:solidFill>
                <a:latin typeface="Arial Rounded MT Bold" panose="020F0704030504030204" pitchFamily="34" charset="0"/>
                <a:ea typeface="B612"/>
                <a:cs typeface="B612"/>
                <a:sym typeface="B612"/>
              </a:rPr>
              <a:t>MUSIC MOOD CLASSIFICATION SYSTEM - MMCS</a:t>
            </a:r>
          </a:p>
        </p:txBody>
      </p:sp>
      <p:sp>
        <p:nvSpPr>
          <p:cNvPr id="6" name="AutoShape 6"/>
          <p:cNvSpPr/>
          <p:nvPr/>
        </p:nvSpPr>
        <p:spPr>
          <a:xfrm>
            <a:off x="6437415" y="1042988"/>
            <a:ext cx="11850585" cy="0"/>
          </a:xfrm>
          <a:prstGeom prst="line">
            <a:avLst/>
          </a:prstGeom>
          <a:ln w="38100" cap="flat">
            <a:solidFill>
              <a:srgbClr val="FFFFFF">
                <a:alpha val="24706"/>
              </a:srgbClr>
            </a:solidFill>
            <a:prstDash val="solid"/>
            <a:headEnd type="none" w="sm" len="sm"/>
            <a:tailEnd type="none" w="sm" len="sm"/>
          </a:ln>
        </p:spPr>
      </p:sp>
      <p:sp>
        <p:nvSpPr>
          <p:cNvPr id="7" name="AutoShape 7"/>
          <p:cNvSpPr/>
          <p:nvPr/>
        </p:nvSpPr>
        <p:spPr>
          <a:xfrm flipV="1">
            <a:off x="0" y="9272588"/>
            <a:ext cx="11039357" cy="0"/>
          </a:xfrm>
          <a:prstGeom prst="line">
            <a:avLst/>
          </a:prstGeom>
          <a:ln w="38100" cap="flat">
            <a:solidFill>
              <a:srgbClr val="FFFFFF">
                <a:alpha val="24706"/>
              </a:srgbClr>
            </a:solidFill>
            <a:prstDash val="solid"/>
            <a:headEnd type="none" w="sm" len="sm"/>
            <a:tailEnd type="none" w="sm" len="sm"/>
          </a:ln>
        </p:spPr>
      </p:sp>
      <p:sp>
        <p:nvSpPr>
          <p:cNvPr id="8" name="AutoShape 8"/>
          <p:cNvSpPr/>
          <p:nvPr/>
        </p:nvSpPr>
        <p:spPr>
          <a:xfrm flipV="1">
            <a:off x="1042987" y="1057275"/>
            <a:ext cx="0" cy="9229725"/>
          </a:xfrm>
          <a:prstGeom prst="line">
            <a:avLst/>
          </a:prstGeom>
          <a:ln w="38100" cap="flat">
            <a:solidFill>
              <a:srgbClr val="FFFFFF">
                <a:alpha val="24706"/>
              </a:srgbClr>
            </a:solidFill>
            <a:prstDash val="solid"/>
            <a:headEnd type="none" w="sm" len="sm"/>
            <a:tailEnd type="none" w="sm" len="sm"/>
          </a:ln>
        </p:spPr>
      </p:sp>
      <p:sp>
        <p:nvSpPr>
          <p:cNvPr id="9" name="AutoShape 9"/>
          <p:cNvSpPr/>
          <p:nvPr/>
        </p:nvSpPr>
        <p:spPr>
          <a:xfrm flipV="1">
            <a:off x="17245012" y="0"/>
            <a:ext cx="0" cy="9258300"/>
          </a:xfrm>
          <a:prstGeom prst="line">
            <a:avLst/>
          </a:prstGeom>
          <a:ln w="38100" cap="flat">
            <a:solidFill>
              <a:srgbClr val="FFFFFF">
                <a:alpha val="24706"/>
              </a:srgbClr>
            </a:solidFill>
            <a:prstDash val="solid"/>
            <a:headEnd type="none" w="sm" len="sm"/>
            <a:tailEnd type="none" w="sm" len="sm"/>
          </a:ln>
        </p:spPr>
      </p:sp>
      <p:sp>
        <p:nvSpPr>
          <p:cNvPr id="12" name="TextBox 12"/>
          <p:cNvSpPr txBox="1"/>
          <p:nvPr/>
        </p:nvSpPr>
        <p:spPr>
          <a:xfrm>
            <a:off x="1871973" y="8529606"/>
            <a:ext cx="6622783" cy="369012"/>
          </a:xfrm>
          <a:prstGeom prst="rect">
            <a:avLst/>
          </a:prstGeom>
        </p:spPr>
        <p:txBody>
          <a:bodyPr lIns="0" tIns="0" rIns="0" bIns="0" rtlCol="0" anchor="t">
            <a:spAutoFit/>
          </a:bodyPr>
          <a:lstStyle/>
          <a:p>
            <a:pPr algn="l">
              <a:lnSpc>
                <a:spcPts val="3146"/>
              </a:lnSpc>
            </a:pPr>
            <a:r>
              <a:rPr lang="en-US" sz="2247">
                <a:solidFill>
                  <a:srgbClr val="FFFFFF"/>
                </a:solidFill>
                <a:latin typeface="Microsoft YaHei Light" panose="020B0502040204020203" pitchFamily="34" charset="-122"/>
                <a:ea typeface="Microsoft YaHei Light" panose="020B0502040204020203" pitchFamily="34" charset="-122"/>
                <a:cs typeface="B612"/>
                <a:sym typeface="B612"/>
              </a:rPr>
              <a:t>Page 15</a:t>
            </a:r>
            <a:endParaRPr lang="en-US" sz="2247" dirty="0">
              <a:solidFill>
                <a:srgbClr val="FFFFFF"/>
              </a:solidFill>
              <a:latin typeface="Microsoft YaHei Light" panose="020B0502040204020203" pitchFamily="34" charset="-122"/>
              <a:ea typeface="Microsoft YaHei Light" panose="020B0502040204020203" pitchFamily="34" charset="-122"/>
              <a:cs typeface="B612"/>
              <a:sym typeface="B612"/>
            </a:endParaRPr>
          </a:p>
        </p:txBody>
      </p:sp>
      <p:sp>
        <p:nvSpPr>
          <p:cNvPr id="14" name="TextBox 14"/>
          <p:cNvSpPr txBox="1"/>
          <p:nvPr/>
        </p:nvSpPr>
        <p:spPr>
          <a:xfrm>
            <a:off x="7815385" y="5182905"/>
            <a:ext cx="2827942" cy="692497"/>
          </a:xfrm>
          <a:prstGeom prst="rect">
            <a:avLst/>
          </a:prstGeom>
        </p:spPr>
        <p:txBody>
          <a:bodyPr wrap="square" lIns="0" tIns="0" rIns="0" bIns="0" rtlCol="0" anchor="t">
            <a:spAutoFit/>
          </a:bodyPr>
          <a:lstStyle/>
          <a:p>
            <a:pPr algn="ctr" rtl="1">
              <a:lnSpc>
                <a:spcPts val="5416"/>
              </a:lnSpc>
              <a:spcBef>
                <a:spcPct val="0"/>
              </a:spcBef>
            </a:pPr>
            <a:r>
              <a:rPr lang="ar-EG" sz="3868" dirty="0">
                <a:solidFill>
                  <a:srgbClr val="FFFFFF"/>
                </a:solidFill>
                <a:latin typeface="Cairo"/>
                <a:ea typeface="Cairo"/>
                <a:cs typeface="Cairo"/>
                <a:sym typeface="Cairo"/>
                <a:rtl/>
              </a:rPr>
              <a:t>شكرا لك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838</Words>
  <Application>Microsoft Office PowerPoint</Application>
  <PresentationFormat>مخصص</PresentationFormat>
  <Paragraphs>162</Paragraphs>
  <Slides>16</Slides>
  <Notes>0</Notes>
  <HiddenSlides>0</HiddenSlides>
  <MMClips>0</MMClips>
  <ScaleCrop>false</ScaleCrop>
  <HeadingPairs>
    <vt:vector size="6" baseType="variant">
      <vt:variant>
        <vt:lpstr>الخطوط المستخدمة</vt:lpstr>
      </vt:variant>
      <vt:variant>
        <vt:i4>12</vt:i4>
      </vt:variant>
      <vt:variant>
        <vt:lpstr>نسق</vt:lpstr>
      </vt:variant>
      <vt:variant>
        <vt:i4>1</vt:i4>
      </vt:variant>
      <vt:variant>
        <vt:lpstr>عناوين الشرائح</vt:lpstr>
      </vt:variant>
      <vt:variant>
        <vt:i4>16</vt:i4>
      </vt:variant>
    </vt:vector>
  </HeadingPairs>
  <TitlesOfParts>
    <vt:vector size="29" baseType="lpstr">
      <vt:lpstr>Courier New</vt:lpstr>
      <vt:lpstr>Calibri</vt:lpstr>
      <vt:lpstr>Cairo</vt:lpstr>
      <vt:lpstr>B612 Bold</vt:lpstr>
      <vt:lpstr>B612</vt:lpstr>
      <vt:lpstr>Times New Roman</vt:lpstr>
      <vt:lpstr>Arial</vt:lpstr>
      <vt:lpstr>Microsoft YaHei Light</vt:lpstr>
      <vt:lpstr>Wingdings</vt:lpstr>
      <vt:lpstr>Cairo Bold</vt:lpstr>
      <vt:lpstr>Abadi</vt:lpstr>
      <vt:lpstr>Arial Rounded MT Bold</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presentation برتقالي و بنفسجي عصري  Business Proposal</dc:title>
  <cp:lastModifiedBy>Fatima Hamdan</cp:lastModifiedBy>
  <cp:revision>41</cp:revision>
  <dcterms:created xsi:type="dcterms:W3CDTF">2006-08-16T00:00:00Z</dcterms:created>
  <dcterms:modified xsi:type="dcterms:W3CDTF">2025-03-22T00:42:14Z</dcterms:modified>
  <dc:identifier>DAGgy5aig-k</dc:identifier>
</cp:coreProperties>
</file>